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630400" cy="9753600"/>
  <p:notesSz cx="6858000" cy="9144000"/>
  <p:defaultTextStyle>
    <a:defPPr>
      <a:defRPr lang="zh-CN"/>
    </a:defPPr>
    <a:lvl1pPr marL="0" algn="l" defTabSz="914400" rtl="0" eaLnBrk="1" latinLnBrk="0" hangingPunct="1">
      <a:defRPr lang="zh-CN" altLang="en-US" sz="18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  <a:sym typeface="Microsoft YaHei" panose="020B0503020204020204" pitchFamily="34" charset="-122"/>
      </a:defRPr>
    </a:lvl1pPr>
    <a:lvl2pPr marL="457200" algn="l" defTabSz="914400" rtl="0" eaLnBrk="1" latinLnBrk="0" hangingPunct="1">
      <a:defRPr lang="zh-CN" altLang="en-US" sz="18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  <a:sym typeface="Microsoft YaHei" panose="020B0503020204020204" pitchFamily="34" charset="-122"/>
      </a:defRPr>
    </a:lvl2pPr>
    <a:lvl3pPr marL="914400" algn="l" defTabSz="914400" rtl="0" eaLnBrk="1" latinLnBrk="0" hangingPunct="1">
      <a:defRPr lang="zh-CN" altLang="en-US" sz="18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  <a:sym typeface="Microsoft YaHei" panose="020B0503020204020204" pitchFamily="34" charset="-122"/>
      </a:defRPr>
    </a:lvl3pPr>
    <a:lvl4pPr marL="1371600" algn="l" defTabSz="914400" rtl="0" eaLnBrk="1" latinLnBrk="0" hangingPunct="1">
      <a:defRPr lang="zh-CN" altLang="en-US" sz="18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  <a:sym typeface="Microsoft YaHei" panose="020B0503020204020204" pitchFamily="34" charset="-122"/>
      </a:defRPr>
    </a:lvl4pPr>
    <a:lvl5pPr marL="1828800" algn="l" defTabSz="914400" rtl="0" eaLnBrk="1" latinLnBrk="0" hangingPunct="1">
      <a:defRPr lang="zh-CN" altLang="en-US" sz="18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  <a:sym typeface="Microsoft YaHei" panose="020B0503020204020204" pitchFamily="34" charset="-122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436" y="64"/>
      </p:cViewPr>
      <p:guideLst>
        <p:guide orient="horz" pos="307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age-title">
            <a:extLst>
              <a:ext uri="{FF2B5EF4-FFF2-40B4-BE49-F238E27FC236}">
                <a16:creationId xmlns:a16="http://schemas.microsoft.com/office/drawing/2014/main" id="{977AAFCD-44B0-42F7-AD06-273819F67B86}"/>
              </a:ext>
            </a:extLst>
          </p:cNvPr>
          <p:cNvSpPr>
            <a:spLocks noGrp="1"/>
          </p:cNvSpPr>
          <p:nvPr/>
        </p:nvSpPr>
        <p:spPr>
          <a:xfrm>
            <a:off x="1885950" y="38100"/>
            <a:ext cx="108585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62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20" b="1" i="0">
                <a:solidFill>
                  <a:srgbClr val="06265F"/>
                </a:solidFill>
                <a:cs typeface="Microsoft YaHei"/>
              </a:rPr>
              <a:t>主动配电网动态电压控制：控制与通信协同设计</a:t>
            </a:r>
          </a:p>
        </p:txBody>
      </p:sp>
      <p:sp>
        <p:nvSpPr>
          <p:cNvPr id="2" name="page-subtitle">
            <a:extLst>
              <a:ext uri="{FF2B5EF4-FFF2-40B4-BE49-F238E27FC236}">
                <a16:creationId xmlns:a16="http://schemas.microsoft.com/office/drawing/2014/main" id="{182CA88F-0860-4357-A7CF-BA2BB7FA1BB0}"/>
              </a:ext>
            </a:extLst>
          </p:cNvPr>
          <p:cNvSpPr>
            <a:spLocks noGrp="1"/>
          </p:cNvSpPr>
          <p:nvPr/>
        </p:nvSpPr>
        <p:spPr>
          <a:xfrm>
            <a:off x="4686300" y="638175"/>
            <a:ext cx="5257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5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1" i="0">
                <a:solidFill>
                  <a:srgbClr val="06265F"/>
                </a:solidFill>
                <a:cs typeface="Microsoft YaHei"/>
              </a:rPr>
              <a:t>鲁棒保成本控制 × 时延信道最优调度</a:t>
            </a:r>
          </a:p>
        </p:txBody>
      </p:sp>
      <p:sp>
        <p:nvSpPr>
          <p:cNvPr id="3" name="left-panel">
            <a:extLst>
              <a:ext uri="{FF2B5EF4-FFF2-40B4-BE49-F238E27FC236}">
                <a16:creationId xmlns:a16="http://schemas.microsoft.com/office/drawing/2014/main" id="{B935013B-964E-477A-B145-80AAC986ACF8}"/>
              </a:ext>
            </a:extLst>
          </p:cNvPr>
          <p:cNvSpPr>
            <a:spLocks noGrp="1"/>
          </p:cNvSpPr>
          <p:nvPr/>
        </p:nvSpPr>
        <p:spPr>
          <a:xfrm>
            <a:off x="114300" y="971550"/>
            <a:ext cx="3038475" cy="6943725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0478">
            <a:solidFill>
              <a:srgbClr val="84BD91"/>
            </a:solidFill>
            <a:prstDash val="solid"/>
          </a:ln>
        </p:spPr>
      </p:sp>
      <p:sp>
        <p:nvSpPr>
          <p:cNvPr id="4" name="left-header-band">
            <a:extLst>
              <a:ext uri="{FF2B5EF4-FFF2-40B4-BE49-F238E27FC236}">
                <a16:creationId xmlns:a16="http://schemas.microsoft.com/office/drawing/2014/main" id="{1BBF00C6-0F76-47D5-B268-7C06DB3BA9A8}"/>
              </a:ext>
            </a:extLst>
          </p:cNvPr>
          <p:cNvSpPr>
            <a:spLocks noGrp="1"/>
          </p:cNvSpPr>
          <p:nvPr/>
        </p:nvSpPr>
        <p:spPr>
          <a:xfrm>
            <a:off x="114300" y="971550"/>
            <a:ext cx="3038475" cy="400050"/>
          </a:xfrm>
          <a:prstGeom prst="roundRect">
            <a:avLst>
              <a:gd name="adj" fmla="val 21429"/>
            </a:avLst>
          </a:prstGeom>
          <a:solidFill>
            <a:srgbClr val="07672D"/>
          </a:solidFill>
          <a:ln w="9525">
            <a:solidFill>
              <a:srgbClr val="07672D"/>
            </a:solidFill>
            <a:prstDash val="solid"/>
          </a:ln>
        </p:spPr>
      </p:sp>
      <p:sp>
        <p:nvSpPr>
          <p:cNvPr id="5" name="left-header-text">
            <a:extLst>
              <a:ext uri="{FF2B5EF4-FFF2-40B4-BE49-F238E27FC236}">
                <a16:creationId xmlns:a16="http://schemas.microsoft.com/office/drawing/2014/main" id="{91579488-5C7D-458F-A9E8-16D154AA30B1}"/>
              </a:ext>
            </a:extLst>
          </p:cNvPr>
          <p:cNvSpPr>
            <a:spLocks noGrp="1"/>
          </p:cNvSpPr>
          <p:nvPr/>
        </p:nvSpPr>
        <p:spPr>
          <a:xfrm>
            <a:off x="114300" y="981075"/>
            <a:ext cx="3038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4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40" b="1" i="0">
                <a:solidFill>
                  <a:srgbClr val="FFFFFF"/>
                </a:solidFill>
                <a:cs typeface="Microsoft YaHei"/>
              </a:rPr>
              <a:t>物理系统与通信资源</a:t>
            </a:r>
          </a:p>
        </p:txBody>
      </p:sp>
      <p:sp>
        <p:nvSpPr>
          <p:cNvPr id="6" name="center-panel">
            <a:extLst>
              <a:ext uri="{FF2B5EF4-FFF2-40B4-BE49-F238E27FC236}">
                <a16:creationId xmlns:a16="http://schemas.microsoft.com/office/drawing/2014/main" id="{2AE1203B-FCFD-4DC0-9242-60BB70F7C956}"/>
              </a:ext>
            </a:extLst>
          </p:cNvPr>
          <p:cNvSpPr>
            <a:spLocks noGrp="1"/>
          </p:cNvSpPr>
          <p:nvPr/>
        </p:nvSpPr>
        <p:spPr>
          <a:xfrm>
            <a:off x="3276600" y="971550"/>
            <a:ext cx="8410575" cy="6505575"/>
          </a:xfrm>
          <a:prstGeom prst="roundRect">
            <a:avLst>
              <a:gd name="adj" fmla="val 1318"/>
            </a:avLst>
          </a:prstGeom>
          <a:solidFill>
            <a:srgbClr val="FFFFFF"/>
          </a:solidFill>
          <a:ln w="10478">
            <a:solidFill>
              <a:srgbClr val="77A8E4"/>
            </a:solidFill>
            <a:prstDash val="solid"/>
          </a:ln>
        </p:spPr>
      </p:sp>
      <p:sp>
        <p:nvSpPr>
          <p:cNvPr id="7" name="center-header-band">
            <a:extLst>
              <a:ext uri="{FF2B5EF4-FFF2-40B4-BE49-F238E27FC236}">
                <a16:creationId xmlns:a16="http://schemas.microsoft.com/office/drawing/2014/main" id="{9E54ABA1-25FA-430C-9418-2FB05C5EC17A}"/>
              </a:ext>
            </a:extLst>
          </p:cNvPr>
          <p:cNvSpPr>
            <a:spLocks noGrp="1"/>
          </p:cNvSpPr>
          <p:nvPr/>
        </p:nvSpPr>
        <p:spPr>
          <a:xfrm>
            <a:off x="3276600" y="971550"/>
            <a:ext cx="8410575" cy="419100"/>
          </a:xfrm>
          <a:prstGeom prst="roundRect">
            <a:avLst>
              <a:gd name="adj" fmla="val 20455"/>
            </a:avLst>
          </a:prstGeom>
          <a:solidFill>
            <a:srgbClr val="003B86"/>
          </a:solidFill>
          <a:ln w="9525">
            <a:solidFill>
              <a:srgbClr val="003B86"/>
            </a:solidFill>
            <a:prstDash val="solid"/>
          </a:ln>
        </p:spPr>
      </p:sp>
      <p:sp>
        <p:nvSpPr>
          <p:cNvPr id="8" name="center-header-text">
            <a:extLst>
              <a:ext uri="{FF2B5EF4-FFF2-40B4-BE49-F238E27FC236}">
                <a16:creationId xmlns:a16="http://schemas.microsoft.com/office/drawing/2014/main" id="{41F6D617-CCE1-45AA-BDCA-FDE7842F37B6}"/>
              </a:ext>
            </a:extLst>
          </p:cNvPr>
          <p:cNvSpPr>
            <a:spLocks noGrp="1"/>
          </p:cNvSpPr>
          <p:nvPr/>
        </p:nvSpPr>
        <p:spPr>
          <a:xfrm>
            <a:off x="3276600" y="981075"/>
            <a:ext cx="84105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cs typeface="Microsoft YaHei"/>
              </a:rPr>
              <a:t>动态控制—信道调度协同框架</a:t>
            </a:r>
          </a:p>
        </p:txBody>
      </p:sp>
      <p:sp>
        <p:nvSpPr>
          <p:cNvPr id="9" name="right-key-panel">
            <a:extLst>
              <a:ext uri="{FF2B5EF4-FFF2-40B4-BE49-F238E27FC236}">
                <a16:creationId xmlns:a16="http://schemas.microsoft.com/office/drawing/2014/main" id="{6FC69EC1-7CBC-4A05-AB2B-8FE4F5D3BADB}"/>
              </a:ext>
            </a:extLst>
          </p:cNvPr>
          <p:cNvSpPr>
            <a:spLocks noGrp="1"/>
          </p:cNvSpPr>
          <p:nvPr/>
        </p:nvSpPr>
        <p:spPr>
          <a:xfrm>
            <a:off x="11830050" y="971550"/>
            <a:ext cx="2695575" cy="2905125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0478">
            <a:solidFill>
              <a:srgbClr val="77A8E4"/>
            </a:solidFill>
            <a:prstDash val="solid"/>
          </a:ln>
        </p:spPr>
      </p:sp>
      <p:sp>
        <p:nvSpPr>
          <p:cNvPr id="10" name="right-key-header-band">
            <a:extLst>
              <a:ext uri="{FF2B5EF4-FFF2-40B4-BE49-F238E27FC236}">
                <a16:creationId xmlns:a16="http://schemas.microsoft.com/office/drawing/2014/main" id="{50950F0E-1812-495E-9DBE-F54D87DAE820}"/>
              </a:ext>
            </a:extLst>
          </p:cNvPr>
          <p:cNvSpPr>
            <a:spLocks noGrp="1"/>
          </p:cNvSpPr>
          <p:nvPr/>
        </p:nvSpPr>
        <p:spPr>
          <a:xfrm>
            <a:off x="11830050" y="971550"/>
            <a:ext cx="2695575" cy="419100"/>
          </a:xfrm>
          <a:prstGeom prst="roundRect">
            <a:avLst>
              <a:gd name="adj" fmla="val 20455"/>
            </a:avLst>
          </a:prstGeom>
          <a:solidFill>
            <a:srgbClr val="003B86"/>
          </a:solidFill>
          <a:ln w="9525">
            <a:solidFill>
              <a:srgbClr val="003B86"/>
            </a:solidFill>
            <a:prstDash val="solid"/>
          </a:ln>
        </p:spPr>
      </p:sp>
      <p:sp>
        <p:nvSpPr>
          <p:cNvPr id="11" name="right-key-header-text">
            <a:extLst>
              <a:ext uri="{FF2B5EF4-FFF2-40B4-BE49-F238E27FC236}">
                <a16:creationId xmlns:a16="http://schemas.microsoft.com/office/drawing/2014/main" id="{622393A7-997F-4996-95A9-D899F4F0D2CA}"/>
              </a:ext>
            </a:extLst>
          </p:cNvPr>
          <p:cNvSpPr>
            <a:spLocks noGrp="1"/>
          </p:cNvSpPr>
          <p:nvPr/>
        </p:nvSpPr>
        <p:spPr>
          <a:xfrm>
            <a:off x="11830050" y="981075"/>
            <a:ext cx="26955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cs typeface="Microsoft YaHei"/>
              </a:rPr>
              <a:t>关键建模要素</a:t>
            </a:r>
          </a:p>
        </p:txBody>
      </p:sp>
      <p:sp>
        <p:nvSpPr>
          <p:cNvPr id="12" name="right-guarantee-panel">
            <a:extLst>
              <a:ext uri="{FF2B5EF4-FFF2-40B4-BE49-F238E27FC236}">
                <a16:creationId xmlns:a16="http://schemas.microsoft.com/office/drawing/2014/main" id="{2E594C6C-5DB4-46CC-916F-2D7CEDFE775D}"/>
              </a:ext>
            </a:extLst>
          </p:cNvPr>
          <p:cNvSpPr>
            <a:spLocks noGrp="1"/>
          </p:cNvSpPr>
          <p:nvPr/>
        </p:nvSpPr>
        <p:spPr>
          <a:xfrm>
            <a:off x="11830050" y="4019550"/>
            <a:ext cx="2695575" cy="306705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0478">
            <a:solidFill>
              <a:srgbClr val="F0935F"/>
            </a:solidFill>
            <a:prstDash val="solid"/>
          </a:ln>
        </p:spPr>
      </p:sp>
      <p:sp>
        <p:nvSpPr>
          <p:cNvPr id="13" name="right-guarantee-header-band">
            <a:extLst>
              <a:ext uri="{FF2B5EF4-FFF2-40B4-BE49-F238E27FC236}">
                <a16:creationId xmlns:a16="http://schemas.microsoft.com/office/drawing/2014/main" id="{B4CCB14C-56A3-4D92-8DF2-C4C8A5A1E35A}"/>
              </a:ext>
            </a:extLst>
          </p:cNvPr>
          <p:cNvSpPr>
            <a:spLocks noGrp="1"/>
          </p:cNvSpPr>
          <p:nvPr/>
        </p:nvSpPr>
        <p:spPr>
          <a:xfrm>
            <a:off x="11830050" y="4019550"/>
            <a:ext cx="2695575" cy="381000"/>
          </a:xfrm>
          <a:prstGeom prst="roundRect">
            <a:avLst>
              <a:gd name="adj" fmla="val 22500"/>
            </a:avLst>
          </a:prstGeom>
          <a:solidFill>
            <a:srgbClr val="E64108"/>
          </a:solidFill>
          <a:ln w="9525">
            <a:solidFill>
              <a:srgbClr val="E64108"/>
            </a:solidFill>
            <a:prstDash val="solid"/>
          </a:ln>
        </p:spPr>
      </p:sp>
      <p:sp>
        <p:nvSpPr>
          <p:cNvPr id="14" name="right-guarantee-header-text">
            <a:extLst>
              <a:ext uri="{FF2B5EF4-FFF2-40B4-BE49-F238E27FC236}">
                <a16:creationId xmlns:a16="http://schemas.microsoft.com/office/drawing/2014/main" id="{93ED2079-38A3-4A91-A936-F5D288B4DD05}"/>
              </a:ext>
            </a:extLst>
          </p:cNvPr>
          <p:cNvSpPr>
            <a:spLocks noGrp="1"/>
          </p:cNvSpPr>
          <p:nvPr/>
        </p:nvSpPr>
        <p:spPr>
          <a:xfrm>
            <a:off x="11830050" y="4029075"/>
            <a:ext cx="2695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1" i="0">
                <a:solidFill>
                  <a:srgbClr val="FFFFFF"/>
                </a:solidFill>
                <a:cs typeface="Microsoft YaHei"/>
              </a:rPr>
              <a:t>控制目标与保证</a:t>
            </a:r>
          </a:p>
        </p:txBody>
      </p:sp>
      <p:sp>
        <p:nvSpPr>
          <p:cNvPr id="15" name="left-card-1">
            <a:extLst>
              <a:ext uri="{FF2B5EF4-FFF2-40B4-BE49-F238E27FC236}">
                <a16:creationId xmlns:a16="http://schemas.microsoft.com/office/drawing/2014/main" id="{9D20FFA2-7F48-4AAA-A448-8C032CBC5300}"/>
              </a:ext>
            </a:extLst>
          </p:cNvPr>
          <p:cNvSpPr>
            <a:spLocks noGrp="1"/>
          </p:cNvSpPr>
          <p:nvPr/>
        </p:nvSpPr>
        <p:spPr>
          <a:xfrm>
            <a:off x="219075" y="1438275"/>
            <a:ext cx="2819400" cy="1800225"/>
          </a:xfrm>
          <a:prstGeom prst="roundRect">
            <a:avLst>
              <a:gd name="adj" fmla="val 4233"/>
            </a:avLst>
          </a:prstGeom>
          <a:solidFill>
            <a:srgbClr val="FEFEFE"/>
          </a:solidFill>
          <a:ln w="8573">
            <a:solidFill>
              <a:srgbClr val="84BD91"/>
            </a:solidFill>
            <a:prstDash val="solid"/>
          </a:ln>
        </p:spPr>
      </p:sp>
      <p:sp>
        <p:nvSpPr>
          <p:cNvPr id="16" name="left-card-2">
            <a:extLst>
              <a:ext uri="{FF2B5EF4-FFF2-40B4-BE49-F238E27FC236}">
                <a16:creationId xmlns:a16="http://schemas.microsoft.com/office/drawing/2014/main" id="{8671E7AB-71B3-445C-A565-A4D85A021CCE}"/>
              </a:ext>
            </a:extLst>
          </p:cNvPr>
          <p:cNvSpPr>
            <a:spLocks noGrp="1"/>
          </p:cNvSpPr>
          <p:nvPr/>
        </p:nvSpPr>
        <p:spPr>
          <a:xfrm>
            <a:off x="219075" y="3305175"/>
            <a:ext cx="2819400" cy="1743075"/>
          </a:xfrm>
          <a:prstGeom prst="roundRect">
            <a:avLst>
              <a:gd name="adj" fmla="val 4372"/>
            </a:avLst>
          </a:prstGeom>
          <a:solidFill>
            <a:srgbClr val="FEFEFE"/>
          </a:solidFill>
          <a:ln w="8573">
            <a:solidFill>
              <a:srgbClr val="84BD91"/>
            </a:solidFill>
            <a:prstDash val="solid"/>
          </a:ln>
        </p:spPr>
      </p:sp>
      <p:sp>
        <p:nvSpPr>
          <p:cNvPr id="17" name="left-card-3">
            <a:extLst>
              <a:ext uri="{FF2B5EF4-FFF2-40B4-BE49-F238E27FC236}">
                <a16:creationId xmlns:a16="http://schemas.microsoft.com/office/drawing/2014/main" id="{DAA39F7B-BE65-496D-92CD-783A5790A4DC}"/>
              </a:ext>
            </a:extLst>
          </p:cNvPr>
          <p:cNvSpPr>
            <a:spLocks noGrp="1"/>
          </p:cNvSpPr>
          <p:nvPr/>
        </p:nvSpPr>
        <p:spPr>
          <a:xfrm>
            <a:off x="219075" y="5114925"/>
            <a:ext cx="2819400" cy="1238250"/>
          </a:xfrm>
          <a:prstGeom prst="roundRect">
            <a:avLst>
              <a:gd name="adj" fmla="val 6154"/>
            </a:avLst>
          </a:prstGeom>
          <a:solidFill>
            <a:srgbClr val="FEFEFE"/>
          </a:solidFill>
          <a:ln w="8573">
            <a:solidFill>
              <a:srgbClr val="84BD91"/>
            </a:solidFill>
            <a:prstDash val="solid"/>
          </a:ln>
        </p:spPr>
      </p:sp>
      <p:sp>
        <p:nvSpPr>
          <p:cNvPr id="18" name="left-card-4">
            <a:extLst>
              <a:ext uri="{FF2B5EF4-FFF2-40B4-BE49-F238E27FC236}">
                <a16:creationId xmlns:a16="http://schemas.microsoft.com/office/drawing/2014/main" id="{509F3F64-3AD3-4FF4-BD7F-18DF543D5D36}"/>
              </a:ext>
            </a:extLst>
          </p:cNvPr>
          <p:cNvSpPr>
            <a:spLocks noGrp="1"/>
          </p:cNvSpPr>
          <p:nvPr/>
        </p:nvSpPr>
        <p:spPr>
          <a:xfrm>
            <a:off x="219075" y="6419850"/>
            <a:ext cx="2819400" cy="1390650"/>
          </a:xfrm>
          <a:prstGeom prst="roundRect">
            <a:avLst>
              <a:gd name="adj" fmla="val 5479"/>
            </a:avLst>
          </a:prstGeom>
          <a:solidFill>
            <a:srgbClr val="FEFEFE"/>
          </a:solidFill>
          <a:ln w="8573">
            <a:solidFill>
              <a:srgbClr val="84BD91"/>
            </a:solidFill>
            <a:prstDash val="solid"/>
          </a:ln>
        </p:spPr>
      </p:sp>
      <p:sp>
        <p:nvSpPr>
          <p:cNvPr id="19" name="left-topology-title">
            <a:extLst>
              <a:ext uri="{FF2B5EF4-FFF2-40B4-BE49-F238E27FC236}">
                <a16:creationId xmlns:a16="http://schemas.microsoft.com/office/drawing/2014/main" id="{5188C558-19CC-4060-B367-16C53BBAC2BA}"/>
              </a:ext>
            </a:extLst>
          </p:cNvPr>
          <p:cNvSpPr>
            <a:spLocks noGrp="1"/>
          </p:cNvSpPr>
          <p:nvPr/>
        </p:nvSpPr>
        <p:spPr>
          <a:xfrm>
            <a:off x="590550" y="14573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2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20" b="1" i="0">
                <a:solidFill>
                  <a:srgbClr val="07672D"/>
                </a:solidFill>
                <a:cs typeface="Microsoft YaHei"/>
              </a:rPr>
              <a:t>43母线主动配电网</a:t>
            </a:r>
          </a:p>
        </p:txBody>
      </p:sp>
      <p:sp>
        <p:nvSpPr>
          <p:cNvPr id="20" name="left-topology-subtitle">
            <a:extLst>
              <a:ext uri="{FF2B5EF4-FFF2-40B4-BE49-F238E27FC236}">
                <a16:creationId xmlns:a16="http://schemas.microsoft.com/office/drawing/2014/main" id="{27FFC5C9-4B21-431F-8185-831BB3D13E36}"/>
              </a:ext>
            </a:extLst>
          </p:cNvPr>
          <p:cNvSpPr>
            <a:spLocks noGrp="1"/>
          </p:cNvSpPr>
          <p:nvPr/>
        </p:nvSpPr>
        <p:spPr>
          <a:xfrm>
            <a:off x="714375" y="1733550"/>
            <a:ext cx="1857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6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0" b="0" i="0">
                <a:solidFill>
                  <a:srgbClr val="111111"/>
                </a:solidFill>
                <a:cs typeface="Microsoft YaHei"/>
              </a:rPr>
              <a:t>3个DG · 3个关键母线</a:t>
            </a:r>
          </a:p>
        </p:txBody>
      </p:sp>
      <p:pic>
        <p:nvPicPr>
          <p:cNvPr id="418" name="图片 4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9451" y="1943100"/>
            <a:ext cx="2193873" cy="952500"/>
          </a:xfrm>
          <a:prstGeom prst="rect">
            <a:avLst/>
          </a:prstGeom>
        </p:spPr>
      </p:pic>
      <p:sp>
        <p:nvSpPr>
          <p:cNvPr id="22" name="left-topology-dg-0">
            <a:extLst>
              <a:ext uri="{FF2B5EF4-FFF2-40B4-BE49-F238E27FC236}">
                <a16:creationId xmlns:a16="http://schemas.microsoft.com/office/drawing/2014/main" id="{C8AAC9FB-2F1A-4F36-9282-902EE8935211}"/>
              </a:ext>
            </a:extLst>
          </p:cNvPr>
          <p:cNvSpPr>
            <a:spLocks noGrp="1"/>
          </p:cNvSpPr>
          <p:nvPr/>
        </p:nvSpPr>
        <p:spPr>
          <a:xfrm>
            <a:off x="523875" y="27813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DG1</a:t>
            </a:r>
          </a:p>
        </p:txBody>
      </p:sp>
      <p:sp>
        <p:nvSpPr>
          <p:cNvPr id="23" name="left-topology-dg-1">
            <a:extLst>
              <a:ext uri="{FF2B5EF4-FFF2-40B4-BE49-F238E27FC236}">
                <a16:creationId xmlns:a16="http://schemas.microsoft.com/office/drawing/2014/main" id="{899163AB-778D-45BE-A4B1-F91AEA206553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DG2</a:t>
            </a:r>
          </a:p>
        </p:txBody>
      </p:sp>
      <p:sp>
        <p:nvSpPr>
          <p:cNvPr id="24" name="left-topology-bus-1">
            <a:extLst>
              <a:ext uri="{FF2B5EF4-FFF2-40B4-BE49-F238E27FC236}">
                <a16:creationId xmlns:a16="http://schemas.microsoft.com/office/drawing/2014/main" id="{CA313B50-A747-44EA-89F7-172274DD9020}"/>
              </a:ext>
            </a:extLst>
          </p:cNvPr>
          <p:cNvSpPr>
            <a:spLocks noGrp="1"/>
          </p:cNvSpPr>
          <p:nvPr/>
        </p:nvSpPr>
        <p:spPr>
          <a:xfrm>
            <a:off x="990600" y="2952750"/>
            <a:ext cx="5334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1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0" b="0" i="0">
                <a:solidFill>
                  <a:srgbClr val="D51019"/>
                </a:solidFill>
                <a:cs typeface="Microsoft YaHei"/>
              </a:rPr>
              <a:t>Bus18</a:t>
            </a:r>
          </a:p>
        </p:txBody>
      </p:sp>
      <p:sp>
        <p:nvSpPr>
          <p:cNvPr id="25" name="left-topology-dg-2">
            <a:extLst>
              <a:ext uri="{FF2B5EF4-FFF2-40B4-BE49-F238E27FC236}">
                <a16:creationId xmlns:a16="http://schemas.microsoft.com/office/drawing/2014/main" id="{9C264C40-0BD3-457D-AA2B-DBD789E7C3A5}"/>
              </a:ext>
            </a:extLst>
          </p:cNvPr>
          <p:cNvSpPr>
            <a:spLocks noGrp="1"/>
          </p:cNvSpPr>
          <p:nvPr/>
        </p:nvSpPr>
        <p:spPr>
          <a:xfrm>
            <a:off x="1733550" y="27813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DG2</a:t>
            </a:r>
          </a:p>
        </p:txBody>
      </p:sp>
      <p:sp>
        <p:nvSpPr>
          <p:cNvPr id="26" name="left-topology-bus-2">
            <a:extLst>
              <a:ext uri="{FF2B5EF4-FFF2-40B4-BE49-F238E27FC236}">
                <a16:creationId xmlns:a16="http://schemas.microsoft.com/office/drawing/2014/main" id="{0EAB1EA5-A366-4F1A-88F2-F59609E5432D}"/>
              </a:ext>
            </a:extLst>
          </p:cNvPr>
          <p:cNvSpPr>
            <a:spLocks noGrp="1"/>
          </p:cNvSpPr>
          <p:nvPr/>
        </p:nvSpPr>
        <p:spPr>
          <a:xfrm>
            <a:off x="1676400" y="2952750"/>
            <a:ext cx="5334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1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0" b="0" i="0">
                <a:solidFill>
                  <a:srgbClr val="D51019"/>
                </a:solidFill>
                <a:cs typeface="Microsoft YaHei"/>
              </a:rPr>
              <a:t>Bus28</a:t>
            </a:r>
          </a:p>
        </p:txBody>
      </p:sp>
      <p:sp>
        <p:nvSpPr>
          <p:cNvPr id="27" name="left-topology-dg-3">
            <a:extLst>
              <a:ext uri="{FF2B5EF4-FFF2-40B4-BE49-F238E27FC236}">
                <a16:creationId xmlns:a16="http://schemas.microsoft.com/office/drawing/2014/main" id="{2590DC01-5167-48B3-BB27-C0A0FCC3D1A5}"/>
              </a:ext>
            </a:extLst>
          </p:cNvPr>
          <p:cNvSpPr>
            <a:spLocks noGrp="1"/>
          </p:cNvSpPr>
          <p:nvPr/>
        </p:nvSpPr>
        <p:spPr>
          <a:xfrm>
            <a:off x="2286000" y="27813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DG3</a:t>
            </a:r>
          </a:p>
        </p:txBody>
      </p:sp>
      <p:sp>
        <p:nvSpPr>
          <p:cNvPr id="28" name="left-topology-bus-3">
            <a:extLst>
              <a:ext uri="{FF2B5EF4-FFF2-40B4-BE49-F238E27FC236}">
                <a16:creationId xmlns:a16="http://schemas.microsoft.com/office/drawing/2014/main" id="{F78F565B-4BC5-4E8E-B1E0-72F500153DA2}"/>
              </a:ext>
            </a:extLst>
          </p:cNvPr>
          <p:cNvSpPr>
            <a:spLocks noGrp="1"/>
          </p:cNvSpPr>
          <p:nvPr/>
        </p:nvSpPr>
        <p:spPr>
          <a:xfrm>
            <a:off x="2228850" y="2952750"/>
            <a:ext cx="5334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1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0" b="0" i="0">
                <a:solidFill>
                  <a:srgbClr val="D51019"/>
                </a:solidFill>
                <a:cs typeface="Microsoft YaHei"/>
              </a:rPr>
              <a:t>Bus36</a:t>
            </a:r>
          </a:p>
        </p:txBody>
      </p:sp>
      <p:sp>
        <p:nvSpPr>
          <p:cNvPr id="29" name="left-pmu-title">
            <a:extLst>
              <a:ext uri="{FF2B5EF4-FFF2-40B4-BE49-F238E27FC236}">
                <a16:creationId xmlns:a16="http://schemas.microsoft.com/office/drawing/2014/main" id="{94C6C4DE-6837-41FF-ABF6-561CF0B4C776}"/>
              </a:ext>
            </a:extLst>
          </p:cNvPr>
          <p:cNvSpPr>
            <a:spLocks noGrp="1"/>
          </p:cNvSpPr>
          <p:nvPr/>
        </p:nvSpPr>
        <p:spPr>
          <a:xfrm>
            <a:off x="800100" y="3324225"/>
            <a:ext cx="1657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2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20" b="1" i="0">
                <a:solidFill>
                  <a:srgbClr val="07672D"/>
                </a:solidFill>
                <a:cs typeface="Microsoft YaHei"/>
              </a:rPr>
              <a:t>PMU同步量测</a:t>
            </a:r>
          </a:p>
        </p:txBody>
      </p:sp>
      <p:sp>
        <p:nvSpPr>
          <p:cNvPr id="30" name="left-pmu-subtitle">
            <a:extLst>
              <a:ext uri="{FF2B5EF4-FFF2-40B4-BE49-F238E27FC236}">
                <a16:creationId xmlns:a16="http://schemas.microsoft.com/office/drawing/2014/main" id="{89390ABA-79FF-4BA2-8630-CC9820262B0D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1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 i="0">
                <a:solidFill>
                  <a:srgbClr val="111111"/>
                </a:solidFill>
                <a:cs typeface="Microsoft YaHei"/>
              </a:rPr>
              <a:t>50帧/秒 · 卫星授时</a:t>
            </a:r>
          </a:p>
        </p:txBody>
      </p:sp>
      <p:pic>
        <p:nvPicPr>
          <p:cNvPr id="428" name="图片 4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28875" y="3477498"/>
            <a:ext cx="504825" cy="445929"/>
          </a:xfrm>
          <a:prstGeom prst="rect">
            <a:avLst/>
          </a:prstGeom>
        </p:spPr>
      </p:pic>
      <p:sp>
        <p:nvSpPr>
          <p:cNvPr id="32" name="left-gps-sync-from-anchor-1">
            <a:extLst>
              <a:ext uri="{FF2B5EF4-FFF2-40B4-BE49-F238E27FC236}">
                <a16:creationId xmlns:a16="http://schemas.microsoft.com/office/drawing/2014/main" id="{B420BEC2-6179-4651-A09F-4E9606F283AB}"/>
              </a:ext>
            </a:extLst>
          </p:cNvPr>
          <p:cNvSpPr>
            <a:spLocks noGrp="1"/>
          </p:cNvSpPr>
          <p:nvPr/>
        </p:nvSpPr>
        <p:spPr>
          <a:xfrm>
            <a:off x="2740343" y="39404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3" name="left-gps-sync-to-anchor-2">
            <a:extLst>
              <a:ext uri="{FF2B5EF4-FFF2-40B4-BE49-F238E27FC236}">
                <a16:creationId xmlns:a16="http://schemas.microsoft.com/office/drawing/2014/main" id="{EEC2A0B2-F26B-450F-A26E-2F4474BA2E3F}"/>
              </a:ext>
            </a:extLst>
          </p:cNvPr>
          <p:cNvSpPr>
            <a:spLocks noGrp="1"/>
          </p:cNvSpPr>
          <p:nvPr/>
        </p:nvSpPr>
        <p:spPr>
          <a:xfrm>
            <a:off x="2740343" y="4578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31" name="left-gps-sync"/>
          <p:cNvCxnSpPr>
            <a:stCxn id="32" idx="4"/>
            <a:endCxn id="33" idx="0"/>
          </p:cNvCxnSpPr>
          <p:nvPr/>
        </p:nvCxnSpPr>
        <p:spPr>
          <a:xfrm>
            <a:off x="2743201" y="3946208"/>
            <a:ext cx="0" cy="63246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35" name="left-gps-label">
            <a:extLst>
              <a:ext uri="{FF2B5EF4-FFF2-40B4-BE49-F238E27FC236}">
                <a16:creationId xmlns:a16="http://schemas.microsoft.com/office/drawing/2014/main" id="{8573A754-8D34-4318-8060-3C76D5B6AFF5}"/>
              </a:ext>
            </a:extLst>
          </p:cNvPr>
          <p:cNvSpPr>
            <a:spLocks noGrp="1"/>
          </p:cNvSpPr>
          <p:nvPr/>
        </p:nvSpPr>
        <p:spPr>
          <a:xfrm>
            <a:off x="2447925" y="40290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6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 i="0">
                <a:solidFill>
                  <a:srgbClr val="06265F"/>
                </a:solidFill>
                <a:cs typeface="Microsoft YaHei"/>
              </a:rPr>
              <a:t>GPS授时</a:t>
            </a:r>
          </a:p>
        </p:txBody>
      </p:sp>
      <p:sp>
        <p:nvSpPr>
          <p:cNvPr id="36" name="left-pmu-t1-1">
            <a:extLst>
              <a:ext uri="{FF2B5EF4-FFF2-40B4-BE49-F238E27FC236}">
                <a16:creationId xmlns:a16="http://schemas.microsoft.com/office/drawing/2014/main" id="{930F1363-1F89-4B83-BE4C-F0E24D47DB5A}"/>
              </a:ext>
            </a:extLst>
          </p:cNvPr>
          <p:cNvSpPr>
            <a:spLocks noGrp="1"/>
          </p:cNvSpPr>
          <p:nvPr/>
        </p:nvSpPr>
        <p:spPr>
          <a:xfrm>
            <a:off x="247650" y="38766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2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1">
                <a:solidFill>
                  <a:srgbClr val="06265F"/>
                </a:solidFill>
                <a:cs typeface="Microsoft YaHei"/>
              </a:rPr>
              <a:t>t</a:t>
            </a:r>
            <a:r>
              <a:rPr lang="en-US" altLang="zh-CN" sz="1020" b="0" i="1" baseline="-25000">
                <a:solidFill>
                  <a:srgbClr val="06265F"/>
                </a:solidFill>
                <a:cs typeface="Microsoft YaHei"/>
              </a:rPr>
              <a:t>1</a:t>
            </a:r>
            <a:endParaRPr sz="1020" b="0" i="1" baseline="-25000">
              <a:solidFill>
                <a:srgbClr val="06265F"/>
              </a:solidFill>
              <a:cs typeface="Microsoft YaHei"/>
            </a:endParaRPr>
          </a:p>
        </p:txBody>
      </p:sp>
      <p:sp>
        <p:nvSpPr>
          <p:cNvPr id="37" name="left-pmu-sync-1-from-anchor-3">
            <a:extLst>
              <a:ext uri="{FF2B5EF4-FFF2-40B4-BE49-F238E27FC236}">
                <a16:creationId xmlns:a16="http://schemas.microsoft.com/office/drawing/2014/main" id="{1E12A6E6-AE97-47A2-B0D3-9E42E7116C4B}"/>
              </a:ext>
            </a:extLst>
          </p:cNvPr>
          <p:cNvSpPr>
            <a:spLocks noGrp="1"/>
          </p:cNvSpPr>
          <p:nvPr/>
        </p:nvSpPr>
        <p:spPr>
          <a:xfrm>
            <a:off x="406718" y="4083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8" name="left-pmu-sync-1-to-anchor-4">
            <a:extLst>
              <a:ext uri="{FF2B5EF4-FFF2-40B4-BE49-F238E27FC236}">
                <a16:creationId xmlns:a16="http://schemas.microsoft.com/office/drawing/2014/main" id="{09F1B0A3-40F1-400F-8FAA-46BE8F8B1EBF}"/>
              </a:ext>
            </a:extLst>
          </p:cNvPr>
          <p:cNvSpPr>
            <a:spLocks noGrp="1"/>
          </p:cNvSpPr>
          <p:nvPr/>
        </p:nvSpPr>
        <p:spPr>
          <a:xfrm>
            <a:off x="406718" y="4578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36" name="left-pmu-sync-1"/>
          <p:cNvCxnSpPr>
            <a:stCxn id="37" idx="4"/>
            <a:endCxn id="38" idx="0"/>
          </p:cNvCxnSpPr>
          <p:nvPr/>
        </p:nvCxnSpPr>
        <p:spPr>
          <a:xfrm>
            <a:off x="409576" y="4089083"/>
            <a:ext cx="0" cy="489585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40" name="left-pmu-t1-2">
            <a:extLst>
              <a:ext uri="{FF2B5EF4-FFF2-40B4-BE49-F238E27FC236}">
                <a16:creationId xmlns:a16="http://schemas.microsoft.com/office/drawing/2014/main" id="{5896DFF5-A0E7-4FCD-BB7B-A56185FF097F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2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1">
                <a:solidFill>
                  <a:srgbClr val="06265F"/>
                </a:solidFill>
                <a:cs typeface="Microsoft YaHei"/>
              </a:rPr>
              <a:t>t</a:t>
            </a:r>
            <a:r>
              <a:rPr lang="en-US" altLang="zh-CN" sz="1020" b="0" i="1" baseline="-25000">
                <a:solidFill>
                  <a:srgbClr val="06265F"/>
                </a:solidFill>
                <a:cs typeface="Microsoft YaHei"/>
              </a:rPr>
              <a:t>1</a:t>
            </a:r>
            <a:endParaRPr sz="1020" b="0" i="1" baseline="-25000">
              <a:solidFill>
                <a:srgbClr val="06265F"/>
              </a:solidFill>
              <a:cs typeface="Microsoft YaHei"/>
            </a:endParaRPr>
          </a:p>
        </p:txBody>
      </p:sp>
      <p:sp>
        <p:nvSpPr>
          <p:cNvPr id="41" name="left-pmu-sync-2-from-anchor-5">
            <a:extLst>
              <a:ext uri="{FF2B5EF4-FFF2-40B4-BE49-F238E27FC236}">
                <a16:creationId xmlns:a16="http://schemas.microsoft.com/office/drawing/2014/main" id="{C679C236-BD11-4FE6-901B-C1DDB4744E9C}"/>
              </a:ext>
            </a:extLst>
          </p:cNvPr>
          <p:cNvSpPr>
            <a:spLocks noGrp="1"/>
          </p:cNvSpPr>
          <p:nvPr/>
        </p:nvSpPr>
        <p:spPr>
          <a:xfrm>
            <a:off x="882968" y="4083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2" name="left-pmu-sync-2-to-anchor-6">
            <a:extLst>
              <a:ext uri="{FF2B5EF4-FFF2-40B4-BE49-F238E27FC236}">
                <a16:creationId xmlns:a16="http://schemas.microsoft.com/office/drawing/2014/main" id="{7F2A9028-E004-4914-9F7D-BFA7CA1859D8}"/>
              </a:ext>
            </a:extLst>
          </p:cNvPr>
          <p:cNvSpPr>
            <a:spLocks noGrp="1"/>
          </p:cNvSpPr>
          <p:nvPr/>
        </p:nvSpPr>
        <p:spPr>
          <a:xfrm>
            <a:off x="882968" y="4578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40" name="left-pmu-sync-2"/>
          <p:cNvCxnSpPr>
            <a:stCxn id="41" idx="4"/>
            <a:endCxn id="42" idx="0"/>
          </p:cNvCxnSpPr>
          <p:nvPr/>
        </p:nvCxnSpPr>
        <p:spPr>
          <a:xfrm>
            <a:off x="885826" y="4089083"/>
            <a:ext cx="0" cy="489585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44" name="left-pmu-t1-3">
            <a:extLst>
              <a:ext uri="{FF2B5EF4-FFF2-40B4-BE49-F238E27FC236}">
                <a16:creationId xmlns:a16="http://schemas.microsoft.com/office/drawing/2014/main" id="{4FC42B50-3FDF-4D1E-9D10-83F7BEDEB377}"/>
              </a:ext>
            </a:extLst>
          </p:cNvPr>
          <p:cNvSpPr>
            <a:spLocks noGrp="1"/>
          </p:cNvSpPr>
          <p:nvPr/>
        </p:nvSpPr>
        <p:spPr>
          <a:xfrm>
            <a:off x="1200150" y="38766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2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1">
                <a:solidFill>
                  <a:srgbClr val="06265F"/>
                </a:solidFill>
                <a:cs typeface="Microsoft YaHei"/>
              </a:rPr>
              <a:t>t</a:t>
            </a:r>
            <a:r>
              <a:rPr lang="en-US" altLang="zh-CN" sz="1020" b="0" i="1" baseline="-25000">
                <a:solidFill>
                  <a:srgbClr val="06265F"/>
                </a:solidFill>
                <a:cs typeface="Microsoft YaHei"/>
              </a:rPr>
              <a:t>1</a:t>
            </a:r>
            <a:endParaRPr sz="1020" b="0" i="1" baseline="-25000">
              <a:solidFill>
                <a:srgbClr val="06265F"/>
              </a:solidFill>
              <a:cs typeface="Microsoft YaHei"/>
            </a:endParaRPr>
          </a:p>
        </p:txBody>
      </p:sp>
      <p:sp>
        <p:nvSpPr>
          <p:cNvPr id="45" name="left-pmu-sync-3-from-anchor-7">
            <a:extLst>
              <a:ext uri="{FF2B5EF4-FFF2-40B4-BE49-F238E27FC236}">
                <a16:creationId xmlns:a16="http://schemas.microsoft.com/office/drawing/2014/main" id="{6C0DE484-F9A9-4464-B7C5-A339CD2E0D85}"/>
              </a:ext>
            </a:extLst>
          </p:cNvPr>
          <p:cNvSpPr>
            <a:spLocks noGrp="1"/>
          </p:cNvSpPr>
          <p:nvPr/>
        </p:nvSpPr>
        <p:spPr>
          <a:xfrm>
            <a:off x="1359218" y="4083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6" name="left-pmu-sync-3-to-anchor-8">
            <a:extLst>
              <a:ext uri="{FF2B5EF4-FFF2-40B4-BE49-F238E27FC236}">
                <a16:creationId xmlns:a16="http://schemas.microsoft.com/office/drawing/2014/main" id="{17346306-D0D2-4FD9-BF8A-3978E1AC0C0A}"/>
              </a:ext>
            </a:extLst>
          </p:cNvPr>
          <p:cNvSpPr>
            <a:spLocks noGrp="1"/>
          </p:cNvSpPr>
          <p:nvPr/>
        </p:nvSpPr>
        <p:spPr>
          <a:xfrm>
            <a:off x="1359218" y="4578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44" name="left-pmu-sync-3"/>
          <p:cNvCxnSpPr>
            <a:stCxn id="45" idx="4"/>
            <a:endCxn id="46" idx="0"/>
          </p:cNvCxnSpPr>
          <p:nvPr/>
        </p:nvCxnSpPr>
        <p:spPr>
          <a:xfrm>
            <a:off x="1362076" y="4089083"/>
            <a:ext cx="0" cy="489585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48" name="left-pmu-t1-4">
            <a:extLst>
              <a:ext uri="{FF2B5EF4-FFF2-40B4-BE49-F238E27FC236}">
                <a16:creationId xmlns:a16="http://schemas.microsoft.com/office/drawing/2014/main" id="{F3FD669F-59F5-4D00-A804-2F73A7FCF416}"/>
              </a:ext>
            </a:extLst>
          </p:cNvPr>
          <p:cNvSpPr>
            <a:spLocks noGrp="1"/>
          </p:cNvSpPr>
          <p:nvPr/>
        </p:nvSpPr>
        <p:spPr>
          <a:xfrm>
            <a:off x="1666875" y="38766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2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1">
                <a:solidFill>
                  <a:srgbClr val="06265F"/>
                </a:solidFill>
                <a:cs typeface="Microsoft YaHei"/>
              </a:rPr>
              <a:t>t</a:t>
            </a:r>
            <a:r>
              <a:rPr lang="en-US" altLang="zh-CN" sz="1020" b="0" i="1" baseline="-25000">
                <a:solidFill>
                  <a:srgbClr val="06265F"/>
                </a:solidFill>
                <a:cs typeface="Microsoft YaHei"/>
              </a:rPr>
              <a:t>1</a:t>
            </a:r>
            <a:endParaRPr sz="1020" b="0" i="1" baseline="-25000">
              <a:solidFill>
                <a:srgbClr val="06265F"/>
              </a:solidFill>
              <a:cs typeface="Microsoft YaHei"/>
            </a:endParaRPr>
          </a:p>
        </p:txBody>
      </p:sp>
      <p:sp>
        <p:nvSpPr>
          <p:cNvPr id="49" name="left-pmu-sync-4-from-anchor-9">
            <a:extLst>
              <a:ext uri="{FF2B5EF4-FFF2-40B4-BE49-F238E27FC236}">
                <a16:creationId xmlns:a16="http://schemas.microsoft.com/office/drawing/2014/main" id="{2BE8E971-E387-4F0D-8BAF-02D9CCB5BAFF}"/>
              </a:ext>
            </a:extLst>
          </p:cNvPr>
          <p:cNvSpPr>
            <a:spLocks noGrp="1"/>
          </p:cNvSpPr>
          <p:nvPr/>
        </p:nvSpPr>
        <p:spPr>
          <a:xfrm>
            <a:off x="1825943" y="4083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50" name="left-pmu-sync-4-to-anchor-10">
            <a:extLst>
              <a:ext uri="{FF2B5EF4-FFF2-40B4-BE49-F238E27FC236}">
                <a16:creationId xmlns:a16="http://schemas.microsoft.com/office/drawing/2014/main" id="{6982299C-9E09-4E66-9408-DF7FE7AD999E}"/>
              </a:ext>
            </a:extLst>
          </p:cNvPr>
          <p:cNvSpPr>
            <a:spLocks noGrp="1"/>
          </p:cNvSpPr>
          <p:nvPr/>
        </p:nvSpPr>
        <p:spPr>
          <a:xfrm>
            <a:off x="1825943" y="4578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48" name="left-pmu-sync-4"/>
          <p:cNvCxnSpPr>
            <a:stCxn id="49" idx="4"/>
            <a:endCxn id="50" idx="0"/>
          </p:cNvCxnSpPr>
          <p:nvPr/>
        </p:nvCxnSpPr>
        <p:spPr>
          <a:xfrm>
            <a:off x="1828801" y="4089083"/>
            <a:ext cx="0" cy="489585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52" name="left-pmu-t1-5">
            <a:extLst>
              <a:ext uri="{FF2B5EF4-FFF2-40B4-BE49-F238E27FC236}">
                <a16:creationId xmlns:a16="http://schemas.microsoft.com/office/drawing/2014/main" id="{57F49F36-A859-468D-8DC5-50480848EA25}"/>
              </a:ext>
            </a:extLst>
          </p:cNvPr>
          <p:cNvSpPr>
            <a:spLocks noGrp="1"/>
          </p:cNvSpPr>
          <p:nvPr/>
        </p:nvSpPr>
        <p:spPr>
          <a:xfrm>
            <a:off x="2143125" y="38766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2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1">
                <a:solidFill>
                  <a:srgbClr val="06265F"/>
                </a:solidFill>
                <a:cs typeface="Microsoft YaHei"/>
              </a:rPr>
              <a:t>t</a:t>
            </a:r>
            <a:r>
              <a:rPr lang="en-US" altLang="zh-CN" sz="1020" b="0" i="1" baseline="-25000">
                <a:solidFill>
                  <a:srgbClr val="06265F"/>
                </a:solidFill>
                <a:cs typeface="Microsoft YaHei"/>
              </a:rPr>
              <a:t>1</a:t>
            </a:r>
            <a:endParaRPr sz="1020" b="0" i="1" baseline="-25000">
              <a:solidFill>
                <a:srgbClr val="06265F"/>
              </a:solidFill>
              <a:cs typeface="Microsoft YaHei"/>
            </a:endParaRPr>
          </a:p>
        </p:txBody>
      </p:sp>
      <p:sp>
        <p:nvSpPr>
          <p:cNvPr id="53" name="left-pmu-sync-5-from-anchor-11">
            <a:extLst>
              <a:ext uri="{FF2B5EF4-FFF2-40B4-BE49-F238E27FC236}">
                <a16:creationId xmlns:a16="http://schemas.microsoft.com/office/drawing/2014/main" id="{BA8F4603-08F4-466E-8CE2-38BF2CC2A4B9}"/>
              </a:ext>
            </a:extLst>
          </p:cNvPr>
          <p:cNvSpPr>
            <a:spLocks noGrp="1"/>
          </p:cNvSpPr>
          <p:nvPr/>
        </p:nvSpPr>
        <p:spPr>
          <a:xfrm>
            <a:off x="2302193" y="4083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54" name="left-pmu-sync-5-to-anchor-12">
            <a:extLst>
              <a:ext uri="{FF2B5EF4-FFF2-40B4-BE49-F238E27FC236}">
                <a16:creationId xmlns:a16="http://schemas.microsoft.com/office/drawing/2014/main" id="{57194BCE-E544-497A-AAE2-A98964BC3BBD}"/>
              </a:ext>
            </a:extLst>
          </p:cNvPr>
          <p:cNvSpPr>
            <a:spLocks noGrp="1"/>
          </p:cNvSpPr>
          <p:nvPr/>
        </p:nvSpPr>
        <p:spPr>
          <a:xfrm>
            <a:off x="2302193" y="4578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52" name="left-pmu-sync-5"/>
          <p:cNvCxnSpPr>
            <a:stCxn id="53" idx="4"/>
            <a:endCxn id="54" idx="0"/>
          </p:cNvCxnSpPr>
          <p:nvPr/>
        </p:nvCxnSpPr>
        <p:spPr>
          <a:xfrm>
            <a:off x="2305051" y="4089083"/>
            <a:ext cx="0" cy="489585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56" name="left-pmu-bus-from-anchor-13">
            <a:extLst>
              <a:ext uri="{FF2B5EF4-FFF2-40B4-BE49-F238E27FC236}">
                <a16:creationId xmlns:a16="http://schemas.microsoft.com/office/drawing/2014/main" id="{E40537B0-3AC6-48DE-A229-78DAD09ED212}"/>
              </a:ext>
            </a:extLst>
          </p:cNvPr>
          <p:cNvSpPr>
            <a:spLocks noGrp="1"/>
          </p:cNvSpPr>
          <p:nvPr/>
        </p:nvSpPr>
        <p:spPr>
          <a:xfrm>
            <a:off x="444818" y="46358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57" name="left-pmu-bus-to-anchor-14">
            <a:extLst>
              <a:ext uri="{FF2B5EF4-FFF2-40B4-BE49-F238E27FC236}">
                <a16:creationId xmlns:a16="http://schemas.microsoft.com/office/drawing/2014/main" id="{C25CAD6D-7758-49CF-BD75-2BC9AE4F1B4A}"/>
              </a:ext>
            </a:extLst>
          </p:cNvPr>
          <p:cNvSpPr>
            <a:spLocks noGrp="1"/>
          </p:cNvSpPr>
          <p:nvPr/>
        </p:nvSpPr>
        <p:spPr>
          <a:xfrm>
            <a:off x="2740343" y="46358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55" name="left-pmu-bus"/>
          <p:cNvCxnSpPr>
            <a:stCxn id="56" idx="6"/>
            <a:endCxn id="57" idx="2"/>
          </p:cNvCxnSpPr>
          <p:nvPr/>
        </p:nvCxnSpPr>
        <p:spPr>
          <a:xfrm>
            <a:off x="450533" y="4638676"/>
            <a:ext cx="2289810" cy="0"/>
          </a:xfrm>
          <a:prstGeom prst="straightConnector1">
            <a:avLst/>
          </a:prstGeom>
          <a:ln w="10478" cap="rnd">
            <a:solidFill>
              <a:srgbClr val="111111"/>
            </a:solidFill>
            <a:prstDash val="solid"/>
            <a:round/>
          </a:ln>
        </p:spPr>
      </p:cxnSp>
      <p:sp>
        <p:nvSpPr>
          <p:cNvPr id="59" name="left-pmu-bus-dot-0">
            <a:extLst>
              <a:ext uri="{FF2B5EF4-FFF2-40B4-BE49-F238E27FC236}">
                <a16:creationId xmlns:a16="http://schemas.microsoft.com/office/drawing/2014/main" id="{365A4A8F-9B1A-4EB1-9A52-DD28C92FCC9F}"/>
              </a:ext>
            </a:extLst>
          </p:cNvPr>
          <p:cNvSpPr>
            <a:spLocks noGrp="1"/>
          </p:cNvSpPr>
          <p:nvPr/>
        </p:nvSpPr>
        <p:spPr>
          <a:xfrm>
            <a:off x="428625" y="4619625"/>
            <a:ext cx="38100" cy="381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0" name="left-pmu-bus-dot-1">
            <a:extLst>
              <a:ext uri="{FF2B5EF4-FFF2-40B4-BE49-F238E27FC236}">
                <a16:creationId xmlns:a16="http://schemas.microsoft.com/office/drawing/2014/main" id="{588EFE91-5E9A-4728-B7D6-622C7E1CDBF0}"/>
              </a:ext>
            </a:extLst>
          </p:cNvPr>
          <p:cNvSpPr>
            <a:spLocks noGrp="1"/>
          </p:cNvSpPr>
          <p:nvPr/>
        </p:nvSpPr>
        <p:spPr>
          <a:xfrm>
            <a:off x="866775" y="4619625"/>
            <a:ext cx="38100" cy="381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1" name="left-pmu-bus-dot-2">
            <a:extLst>
              <a:ext uri="{FF2B5EF4-FFF2-40B4-BE49-F238E27FC236}">
                <a16:creationId xmlns:a16="http://schemas.microsoft.com/office/drawing/2014/main" id="{2740FB3F-3A44-44CC-A279-3BA6B81AB3ED}"/>
              </a:ext>
            </a:extLst>
          </p:cNvPr>
          <p:cNvSpPr>
            <a:spLocks noGrp="1"/>
          </p:cNvSpPr>
          <p:nvPr/>
        </p:nvSpPr>
        <p:spPr>
          <a:xfrm>
            <a:off x="1343025" y="4619625"/>
            <a:ext cx="38100" cy="381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2" name="left-pmu-bus-dot-3">
            <a:extLst>
              <a:ext uri="{FF2B5EF4-FFF2-40B4-BE49-F238E27FC236}">
                <a16:creationId xmlns:a16="http://schemas.microsoft.com/office/drawing/2014/main" id="{309B5360-CC5C-4665-B864-E94BC24CFF50}"/>
              </a:ext>
            </a:extLst>
          </p:cNvPr>
          <p:cNvSpPr>
            <a:spLocks noGrp="1"/>
          </p:cNvSpPr>
          <p:nvPr/>
        </p:nvSpPr>
        <p:spPr>
          <a:xfrm>
            <a:off x="1809750" y="4619625"/>
            <a:ext cx="38100" cy="381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3" name="left-pmu-bus-dot-4">
            <a:extLst>
              <a:ext uri="{FF2B5EF4-FFF2-40B4-BE49-F238E27FC236}">
                <a16:creationId xmlns:a16="http://schemas.microsoft.com/office/drawing/2014/main" id="{C883204E-55BF-4862-B2C6-7672F881A78D}"/>
              </a:ext>
            </a:extLst>
          </p:cNvPr>
          <p:cNvSpPr>
            <a:spLocks noGrp="1"/>
          </p:cNvSpPr>
          <p:nvPr/>
        </p:nvSpPr>
        <p:spPr>
          <a:xfrm>
            <a:off x="2286000" y="4619625"/>
            <a:ext cx="38100" cy="381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4" name="left-pmu-bus-dot-5">
            <a:extLst>
              <a:ext uri="{FF2B5EF4-FFF2-40B4-BE49-F238E27FC236}">
                <a16:creationId xmlns:a16="http://schemas.microsoft.com/office/drawing/2014/main" id="{290CF8A5-9C10-443A-97B2-482D739E839D}"/>
              </a:ext>
            </a:extLst>
          </p:cNvPr>
          <p:cNvSpPr>
            <a:spLocks noGrp="1"/>
          </p:cNvSpPr>
          <p:nvPr/>
        </p:nvSpPr>
        <p:spPr>
          <a:xfrm>
            <a:off x="2724150" y="4619625"/>
            <a:ext cx="38100" cy="38100"/>
          </a:xfrm>
          <a:prstGeom prst="ellipse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pic>
        <p:nvPicPr>
          <p:cNvPr id="462" name="图片 4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47650" y="4182533"/>
            <a:ext cx="333375" cy="340783"/>
          </a:xfrm>
          <a:prstGeom prst="rect">
            <a:avLst/>
          </a:prstGeom>
        </p:spPr>
      </p:pic>
      <p:pic>
        <p:nvPicPr>
          <p:cNvPr id="463" name="图片 4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75568" y="4438650"/>
            <a:ext cx="268014" cy="304800"/>
          </a:xfrm>
          <a:prstGeom prst="rect">
            <a:avLst/>
          </a:prstGeom>
        </p:spPr>
      </p:pic>
      <p:pic>
        <p:nvPicPr>
          <p:cNvPr id="464" name="图片 46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00150" y="4182533"/>
            <a:ext cx="333375" cy="340783"/>
          </a:xfrm>
          <a:prstGeom prst="rect">
            <a:avLst/>
          </a:prstGeom>
        </p:spPr>
      </p:pic>
      <p:pic>
        <p:nvPicPr>
          <p:cNvPr id="465" name="图片 46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28068" y="4438650"/>
            <a:ext cx="268014" cy="304800"/>
          </a:xfrm>
          <a:prstGeom prst="rect">
            <a:avLst/>
          </a:prstGeom>
        </p:spPr>
      </p:pic>
      <p:pic>
        <p:nvPicPr>
          <p:cNvPr id="466" name="图片 46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143125" y="4182533"/>
            <a:ext cx="333375" cy="340783"/>
          </a:xfrm>
          <a:prstGeom prst="rect">
            <a:avLst/>
          </a:prstGeom>
        </p:spPr>
      </p:pic>
      <p:pic>
        <p:nvPicPr>
          <p:cNvPr id="467" name="图片 46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171043" y="4438650"/>
            <a:ext cx="268014" cy="304800"/>
          </a:xfrm>
          <a:prstGeom prst="rect">
            <a:avLst/>
          </a:prstGeom>
        </p:spPr>
      </p:pic>
      <p:sp>
        <p:nvSpPr>
          <p:cNvPr id="71" name="left-pmu-dg-0">
            <a:extLst>
              <a:ext uri="{FF2B5EF4-FFF2-40B4-BE49-F238E27FC236}">
                <a16:creationId xmlns:a16="http://schemas.microsoft.com/office/drawing/2014/main" id="{D9B1DF92-F45A-4FF9-8E50-B8115E2EFF89}"/>
              </a:ext>
            </a:extLst>
          </p:cNvPr>
          <p:cNvSpPr>
            <a:spLocks noGrp="1"/>
          </p:cNvSpPr>
          <p:nvPr/>
        </p:nvSpPr>
        <p:spPr>
          <a:xfrm>
            <a:off x="266700" y="465772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7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 i="0">
                <a:solidFill>
                  <a:srgbClr val="111111"/>
                </a:solidFill>
                <a:cs typeface="Microsoft YaHei"/>
              </a:rPr>
              <a:t>DG1</a:t>
            </a:r>
          </a:p>
        </p:txBody>
      </p:sp>
      <p:sp>
        <p:nvSpPr>
          <p:cNvPr id="72" name="left-pmu-bus-label-1">
            <a:extLst>
              <a:ext uri="{FF2B5EF4-FFF2-40B4-BE49-F238E27FC236}">
                <a16:creationId xmlns:a16="http://schemas.microsoft.com/office/drawing/2014/main" id="{89C98FBC-C279-4406-B826-035ECFC1787B}"/>
              </a:ext>
            </a:extLst>
          </p:cNvPr>
          <p:cNvSpPr>
            <a:spLocks noGrp="1"/>
          </p:cNvSpPr>
          <p:nvPr/>
        </p:nvSpPr>
        <p:spPr>
          <a:xfrm>
            <a:off x="647700" y="48101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7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 i="0">
                <a:solidFill>
                  <a:srgbClr val="D51019"/>
                </a:solidFill>
                <a:cs typeface="Microsoft YaHei"/>
              </a:rPr>
              <a:t>Bus18</a:t>
            </a:r>
          </a:p>
        </p:txBody>
      </p:sp>
      <p:sp>
        <p:nvSpPr>
          <p:cNvPr id="73" name="left-pmu-dg-2">
            <a:extLst>
              <a:ext uri="{FF2B5EF4-FFF2-40B4-BE49-F238E27FC236}">
                <a16:creationId xmlns:a16="http://schemas.microsoft.com/office/drawing/2014/main" id="{DE786C02-221E-4762-835D-4E6E69391C02}"/>
              </a:ext>
            </a:extLst>
          </p:cNvPr>
          <p:cNvSpPr>
            <a:spLocks noGrp="1"/>
          </p:cNvSpPr>
          <p:nvPr/>
        </p:nvSpPr>
        <p:spPr>
          <a:xfrm>
            <a:off x="1181100" y="465772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7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 i="0">
                <a:solidFill>
                  <a:srgbClr val="111111"/>
                </a:solidFill>
                <a:cs typeface="Microsoft YaHei"/>
              </a:rPr>
              <a:t>DG2</a:t>
            </a:r>
          </a:p>
        </p:txBody>
      </p:sp>
      <p:sp>
        <p:nvSpPr>
          <p:cNvPr id="74" name="left-pmu-bus-label-3">
            <a:extLst>
              <a:ext uri="{FF2B5EF4-FFF2-40B4-BE49-F238E27FC236}">
                <a16:creationId xmlns:a16="http://schemas.microsoft.com/office/drawing/2014/main" id="{A83ED4AE-56F3-4EB9-98A8-F33C57A5B241}"/>
              </a:ext>
            </a:extLst>
          </p:cNvPr>
          <p:cNvSpPr>
            <a:spLocks noGrp="1"/>
          </p:cNvSpPr>
          <p:nvPr/>
        </p:nvSpPr>
        <p:spPr>
          <a:xfrm>
            <a:off x="1590675" y="48101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7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 i="0">
                <a:solidFill>
                  <a:srgbClr val="D51019"/>
                </a:solidFill>
                <a:cs typeface="Microsoft YaHei"/>
              </a:rPr>
              <a:t>Bus28</a:t>
            </a:r>
          </a:p>
        </p:txBody>
      </p:sp>
      <p:sp>
        <p:nvSpPr>
          <p:cNvPr id="75" name="left-pmu-dg-4">
            <a:extLst>
              <a:ext uri="{FF2B5EF4-FFF2-40B4-BE49-F238E27FC236}">
                <a16:creationId xmlns:a16="http://schemas.microsoft.com/office/drawing/2014/main" id="{FBAEE66D-AEA6-4A0C-B2D0-4282C9D4AF34}"/>
              </a:ext>
            </a:extLst>
          </p:cNvPr>
          <p:cNvSpPr>
            <a:spLocks noGrp="1"/>
          </p:cNvSpPr>
          <p:nvPr/>
        </p:nvSpPr>
        <p:spPr>
          <a:xfrm>
            <a:off x="2124075" y="4657725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7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 i="0">
                <a:solidFill>
                  <a:srgbClr val="111111"/>
                </a:solidFill>
                <a:cs typeface="Microsoft YaHei"/>
              </a:rPr>
              <a:t>DG3</a:t>
            </a:r>
          </a:p>
        </p:txBody>
      </p:sp>
      <p:sp>
        <p:nvSpPr>
          <p:cNvPr id="76" name="left-pmu-bus-label-5">
            <a:extLst>
              <a:ext uri="{FF2B5EF4-FFF2-40B4-BE49-F238E27FC236}">
                <a16:creationId xmlns:a16="http://schemas.microsoft.com/office/drawing/2014/main" id="{1D5302DF-3FBD-4775-B9EC-FC74579944D9}"/>
              </a:ext>
            </a:extLst>
          </p:cNvPr>
          <p:cNvSpPr>
            <a:spLocks noGrp="1"/>
          </p:cNvSpPr>
          <p:nvPr/>
        </p:nvSpPr>
        <p:spPr>
          <a:xfrm>
            <a:off x="2505075" y="481012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7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 i="0">
                <a:solidFill>
                  <a:srgbClr val="D51019"/>
                </a:solidFill>
                <a:cs typeface="Microsoft YaHei"/>
              </a:rPr>
              <a:t>Bus36</a:t>
            </a:r>
          </a:p>
        </p:txBody>
      </p:sp>
      <p:sp>
        <p:nvSpPr>
          <p:cNvPr id="77" name="left-network-title">
            <a:extLst>
              <a:ext uri="{FF2B5EF4-FFF2-40B4-BE49-F238E27FC236}">
                <a16:creationId xmlns:a16="http://schemas.microsoft.com/office/drawing/2014/main" id="{68789EF3-5F83-4431-B068-D02A22630BE7}"/>
              </a:ext>
            </a:extLst>
          </p:cNvPr>
          <p:cNvSpPr>
            <a:spLocks noGrp="1"/>
          </p:cNvSpPr>
          <p:nvPr/>
        </p:nvSpPr>
        <p:spPr>
          <a:xfrm>
            <a:off x="762000" y="5133975"/>
            <a:ext cx="17240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7672D"/>
                </a:solidFill>
                <a:cs typeface="Microsoft YaHei"/>
              </a:rPr>
              <a:t>光纤 / 无线网络</a:t>
            </a:r>
          </a:p>
        </p:txBody>
      </p:sp>
      <p:sp>
        <p:nvSpPr>
          <p:cNvPr id="78" name="left-network-subtitle">
            <a:extLst>
              <a:ext uri="{FF2B5EF4-FFF2-40B4-BE49-F238E27FC236}">
                <a16:creationId xmlns:a16="http://schemas.microsoft.com/office/drawing/2014/main" id="{CF7DCABE-5AD5-4DFD-9A65-E6EFADA32CF5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i="0">
                <a:solidFill>
                  <a:srgbClr val="111111"/>
                </a:solidFill>
                <a:cs typeface="Microsoft YaHei"/>
              </a:rPr>
              <a:t>受限通信资源</a:t>
            </a:r>
          </a:p>
        </p:txBody>
      </p:sp>
      <p:pic>
        <p:nvPicPr>
          <p:cNvPr id="476" name="图片 47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02895" y="5553075"/>
            <a:ext cx="480060" cy="600075"/>
          </a:xfrm>
          <a:prstGeom prst="rect">
            <a:avLst/>
          </a:prstGeom>
        </p:spPr>
      </p:pic>
      <p:pic>
        <p:nvPicPr>
          <p:cNvPr id="477" name="图片 47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85193" y="5638800"/>
            <a:ext cx="849039" cy="523875"/>
          </a:xfrm>
          <a:prstGeom prst="rect">
            <a:avLst/>
          </a:prstGeom>
        </p:spPr>
      </p:pic>
      <p:pic>
        <p:nvPicPr>
          <p:cNvPr id="478" name="图片 47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2282428" y="5534025"/>
            <a:ext cx="588169" cy="619125"/>
          </a:xfrm>
          <a:prstGeom prst="rect">
            <a:avLst/>
          </a:prstGeom>
        </p:spPr>
      </p:pic>
      <p:sp>
        <p:nvSpPr>
          <p:cNvPr id="82" name="left-fiber-link-1-from-anchor-15">
            <a:extLst>
              <a:ext uri="{FF2B5EF4-FFF2-40B4-BE49-F238E27FC236}">
                <a16:creationId xmlns:a16="http://schemas.microsoft.com/office/drawing/2014/main" id="{7183F0AC-6BAD-4F7A-8118-8FF8166773DB}"/>
              </a:ext>
            </a:extLst>
          </p:cNvPr>
          <p:cNvSpPr>
            <a:spLocks noGrp="1"/>
          </p:cNvSpPr>
          <p:nvPr/>
        </p:nvSpPr>
        <p:spPr>
          <a:xfrm>
            <a:off x="787718" y="58454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3" name="left-fiber-link-1-to-anchor-16">
            <a:extLst>
              <a:ext uri="{FF2B5EF4-FFF2-40B4-BE49-F238E27FC236}">
                <a16:creationId xmlns:a16="http://schemas.microsoft.com/office/drawing/2014/main" id="{71800746-0E4C-45C7-BF1D-11B0DA3125DF}"/>
              </a:ext>
            </a:extLst>
          </p:cNvPr>
          <p:cNvSpPr>
            <a:spLocks noGrp="1"/>
          </p:cNvSpPr>
          <p:nvPr/>
        </p:nvSpPr>
        <p:spPr>
          <a:xfrm>
            <a:off x="1102043" y="58454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81" name="left-fiber-link-1"/>
          <p:cNvCxnSpPr>
            <a:stCxn id="82" idx="6"/>
            <a:endCxn id="83" idx="2"/>
          </p:cNvCxnSpPr>
          <p:nvPr/>
        </p:nvCxnSpPr>
        <p:spPr>
          <a:xfrm>
            <a:off x="793433" y="5848350"/>
            <a:ext cx="308610" cy="0"/>
          </a:xfrm>
          <a:prstGeom prst="straightConnector1">
            <a:avLst/>
          </a:prstGeom>
          <a:ln w="18098" cap="rnd">
            <a:solidFill>
              <a:srgbClr val="E5A400"/>
            </a:solidFill>
            <a:prstDash val="solid"/>
            <a:round/>
          </a:ln>
        </p:spPr>
      </p:cxnSp>
      <p:sp>
        <p:nvSpPr>
          <p:cNvPr id="85" name="left-fiber-link-2-from-anchor-17">
            <a:extLst>
              <a:ext uri="{FF2B5EF4-FFF2-40B4-BE49-F238E27FC236}">
                <a16:creationId xmlns:a16="http://schemas.microsoft.com/office/drawing/2014/main" id="{0E11CE76-AB80-4D28-8469-6ED27B38D269}"/>
              </a:ext>
            </a:extLst>
          </p:cNvPr>
          <p:cNvSpPr>
            <a:spLocks noGrp="1"/>
          </p:cNvSpPr>
          <p:nvPr/>
        </p:nvSpPr>
        <p:spPr>
          <a:xfrm>
            <a:off x="1940243" y="59216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86" name="left-fiber-link-2-to-anchor-18">
            <a:extLst>
              <a:ext uri="{FF2B5EF4-FFF2-40B4-BE49-F238E27FC236}">
                <a16:creationId xmlns:a16="http://schemas.microsoft.com/office/drawing/2014/main" id="{F0858726-CFAF-4928-AB74-5F0D97A0BFC6}"/>
              </a:ext>
            </a:extLst>
          </p:cNvPr>
          <p:cNvSpPr>
            <a:spLocks noGrp="1"/>
          </p:cNvSpPr>
          <p:nvPr/>
        </p:nvSpPr>
        <p:spPr>
          <a:xfrm>
            <a:off x="2292668" y="59216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84" name="left-fiber-link-2"/>
          <p:cNvCxnSpPr>
            <a:stCxn id="85" idx="6"/>
            <a:endCxn id="86" idx="2"/>
          </p:cNvCxnSpPr>
          <p:nvPr/>
        </p:nvCxnSpPr>
        <p:spPr>
          <a:xfrm>
            <a:off x="1945958" y="5924550"/>
            <a:ext cx="346710" cy="0"/>
          </a:xfrm>
          <a:prstGeom prst="straightConnector1">
            <a:avLst/>
          </a:prstGeom>
          <a:ln w="15240" cap="rnd">
            <a:solidFill>
              <a:srgbClr val="0964BE"/>
            </a:solidFill>
            <a:prstDash val="dash"/>
            <a:round/>
          </a:ln>
        </p:spPr>
      </p:cxnSp>
      <p:sp>
        <p:nvSpPr>
          <p:cNvPr id="88" name="left-fiber-label">
            <a:extLst>
              <a:ext uri="{FF2B5EF4-FFF2-40B4-BE49-F238E27FC236}">
                <a16:creationId xmlns:a16="http://schemas.microsoft.com/office/drawing/2014/main" id="{92331C8F-C86C-46E1-B3F8-A237906188BE}"/>
              </a:ext>
            </a:extLst>
          </p:cNvPr>
          <p:cNvSpPr>
            <a:spLocks noGrp="1"/>
          </p:cNvSpPr>
          <p:nvPr/>
        </p:nvSpPr>
        <p:spPr>
          <a:xfrm>
            <a:off x="1009650" y="61150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i="0">
                <a:solidFill>
                  <a:srgbClr val="111111"/>
                </a:solidFill>
                <a:cs typeface="Microsoft YaHei"/>
              </a:rPr>
              <a:t>光纤交换机</a:t>
            </a:r>
          </a:p>
        </p:txBody>
      </p:sp>
      <p:sp>
        <p:nvSpPr>
          <p:cNvPr id="89" name="left-wireless-label">
            <a:extLst>
              <a:ext uri="{FF2B5EF4-FFF2-40B4-BE49-F238E27FC236}">
                <a16:creationId xmlns:a16="http://schemas.microsoft.com/office/drawing/2014/main" id="{5CE584A7-A856-48D1-A03A-57CFAF598A94}"/>
              </a:ext>
            </a:extLst>
          </p:cNvPr>
          <p:cNvSpPr>
            <a:spLocks noGrp="1"/>
          </p:cNvSpPr>
          <p:nvPr/>
        </p:nvSpPr>
        <p:spPr>
          <a:xfrm>
            <a:off x="2209800" y="6115050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0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i="0">
                <a:solidFill>
                  <a:srgbClr val="111111"/>
                </a:solidFill>
                <a:cs typeface="Microsoft YaHei"/>
              </a:rPr>
              <a:t>无线基站</a:t>
            </a:r>
          </a:p>
        </p:txBody>
      </p:sp>
      <p:sp>
        <p:nvSpPr>
          <p:cNvPr id="90" name="left-delay-title">
            <a:extLst>
              <a:ext uri="{FF2B5EF4-FFF2-40B4-BE49-F238E27FC236}">
                <a16:creationId xmlns:a16="http://schemas.microsoft.com/office/drawing/2014/main" id="{7F93DAB0-24CB-4A4A-BE3C-EE8434231EEF}"/>
              </a:ext>
            </a:extLst>
          </p:cNvPr>
          <p:cNvSpPr>
            <a:spLocks noGrp="1"/>
          </p:cNvSpPr>
          <p:nvPr/>
        </p:nvSpPr>
        <p:spPr>
          <a:xfrm>
            <a:off x="733425" y="6438900"/>
            <a:ext cx="1790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1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0" b="1" i="0">
                <a:solidFill>
                  <a:srgbClr val="07672D"/>
                </a:solidFill>
                <a:cs typeface="Microsoft YaHei"/>
              </a:rPr>
              <a:t>多等级时延信道</a:t>
            </a:r>
          </a:p>
        </p:txBody>
      </p:sp>
      <p:sp>
        <p:nvSpPr>
          <p:cNvPr id="91" name="left-delay-subtitle">
            <a:extLst>
              <a:ext uri="{FF2B5EF4-FFF2-40B4-BE49-F238E27FC236}">
                <a16:creationId xmlns:a16="http://schemas.microsoft.com/office/drawing/2014/main" id="{03E5E3DD-DEC6-44FE-8C30-9D4CB28FA38D}"/>
              </a:ext>
            </a:extLst>
          </p:cNvPr>
          <p:cNvSpPr>
            <a:spLocks noGrp="1"/>
          </p:cNvSpPr>
          <p:nvPr/>
        </p:nvSpPr>
        <p:spPr>
          <a:xfrm>
            <a:off x="762000" y="67056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 i="0">
                <a:solidFill>
                  <a:srgbClr val="111111"/>
                </a:solidFill>
                <a:cs typeface="Microsoft YaHei"/>
              </a:rPr>
              <a:t>20 ms · 80 ms · 140 ms</a:t>
            </a:r>
          </a:p>
        </p:txBody>
      </p:sp>
      <p:pic>
        <p:nvPicPr>
          <p:cNvPr id="489" name="图片 48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43495" y="6877050"/>
            <a:ext cx="303609" cy="323850"/>
          </a:xfrm>
          <a:prstGeom prst="rect">
            <a:avLst/>
          </a:prstGeom>
        </p:spPr>
      </p:pic>
      <p:pic>
        <p:nvPicPr>
          <p:cNvPr id="490" name="图片 48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610445" y="6877050"/>
            <a:ext cx="303609" cy="323850"/>
          </a:xfrm>
          <a:prstGeom prst="rect">
            <a:avLst/>
          </a:prstGeom>
        </p:spPr>
      </p:pic>
      <p:sp>
        <p:nvSpPr>
          <p:cNvPr id="94" name="left-delay-link-1-from-anchor-19">
            <a:extLst>
              <a:ext uri="{FF2B5EF4-FFF2-40B4-BE49-F238E27FC236}">
                <a16:creationId xmlns:a16="http://schemas.microsoft.com/office/drawing/2014/main" id="{CFDF548D-021C-4E83-BAAB-BFFA800212F9}"/>
              </a:ext>
            </a:extLst>
          </p:cNvPr>
          <p:cNvSpPr>
            <a:spLocks noGrp="1"/>
          </p:cNvSpPr>
          <p:nvPr/>
        </p:nvSpPr>
        <p:spPr>
          <a:xfrm>
            <a:off x="673418" y="70361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5" name="left-delay-link-1-to-anchor-20">
            <a:extLst>
              <a:ext uri="{FF2B5EF4-FFF2-40B4-BE49-F238E27FC236}">
                <a16:creationId xmlns:a16="http://schemas.microsoft.com/office/drawing/2014/main" id="{E045C91B-1468-43C4-8AE5-09328C7035CE}"/>
              </a:ext>
            </a:extLst>
          </p:cNvPr>
          <p:cNvSpPr>
            <a:spLocks noGrp="1"/>
          </p:cNvSpPr>
          <p:nvPr/>
        </p:nvSpPr>
        <p:spPr>
          <a:xfrm>
            <a:off x="2578418" y="70361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93" name="left-delay-link-1"/>
          <p:cNvCxnSpPr>
            <a:stCxn id="94" idx="6"/>
            <a:endCxn id="95" idx="2"/>
          </p:cNvCxnSpPr>
          <p:nvPr/>
        </p:nvCxnSpPr>
        <p:spPr>
          <a:xfrm>
            <a:off x="679133" y="7038975"/>
            <a:ext cx="1899285" cy="0"/>
          </a:xfrm>
          <a:prstGeom prst="straightConnector1">
            <a:avLst/>
          </a:prstGeom>
          <a:ln w="11906" cap="rnd">
            <a:solidFill>
              <a:srgbClr val="07672D"/>
            </a:solidFill>
            <a:prstDash val="dash"/>
            <a:round/>
            <a:headEnd type="triangle" w="sm" len="sm"/>
            <a:tailEnd type="triangle" w="sm" len="sm"/>
          </a:ln>
        </p:spPr>
      </p:cxnSp>
      <p:sp>
        <p:nvSpPr>
          <p:cNvPr id="97" name="left-delay-label-1">
            <a:extLst>
              <a:ext uri="{FF2B5EF4-FFF2-40B4-BE49-F238E27FC236}">
                <a16:creationId xmlns:a16="http://schemas.microsoft.com/office/drawing/2014/main" id="{3A89A067-0DC0-438D-ABED-290DD47278F0}"/>
              </a:ext>
            </a:extLst>
          </p:cNvPr>
          <p:cNvSpPr>
            <a:spLocks noGrp="1"/>
          </p:cNvSpPr>
          <p:nvPr/>
        </p:nvSpPr>
        <p:spPr>
          <a:xfrm>
            <a:off x="1200150" y="68675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4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0" b="1" i="0">
                <a:solidFill>
                  <a:srgbClr val="07672D"/>
                </a:solidFill>
                <a:cs typeface="Microsoft YaHei"/>
              </a:rPr>
              <a:t>20 ms 信道</a:t>
            </a:r>
          </a:p>
        </p:txBody>
      </p:sp>
      <p:pic>
        <p:nvPicPr>
          <p:cNvPr id="495" name="图片 49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43495" y="7200900"/>
            <a:ext cx="303609" cy="323850"/>
          </a:xfrm>
          <a:prstGeom prst="rect">
            <a:avLst/>
          </a:prstGeom>
        </p:spPr>
      </p:pic>
      <p:pic>
        <p:nvPicPr>
          <p:cNvPr id="496" name="图片 49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610445" y="7200900"/>
            <a:ext cx="303609" cy="323850"/>
          </a:xfrm>
          <a:prstGeom prst="rect">
            <a:avLst/>
          </a:prstGeom>
        </p:spPr>
      </p:pic>
      <p:sp>
        <p:nvSpPr>
          <p:cNvPr id="100" name="left-delay-link-2-from-anchor-21">
            <a:extLst>
              <a:ext uri="{FF2B5EF4-FFF2-40B4-BE49-F238E27FC236}">
                <a16:creationId xmlns:a16="http://schemas.microsoft.com/office/drawing/2014/main" id="{0D3042FE-AD51-48F8-8AD1-1814CFC996EF}"/>
              </a:ext>
            </a:extLst>
          </p:cNvPr>
          <p:cNvSpPr>
            <a:spLocks noGrp="1"/>
          </p:cNvSpPr>
          <p:nvPr/>
        </p:nvSpPr>
        <p:spPr>
          <a:xfrm>
            <a:off x="673418" y="73599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1" name="left-delay-link-2-to-anchor-22">
            <a:extLst>
              <a:ext uri="{FF2B5EF4-FFF2-40B4-BE49-F238E27FC236}">
                <a16:creationId xmlns:a16="http://schemas.microsoft.com/office/drawing/2014/main" id="{682156E7-3F70-4359-BCEA-7A24F47CB93D}"/>
              </a:ext>
            </a:extLst>
          </p:cNvPr>
          <p:cNvSpPr>
            <a:spLocks noGrp="1"/>
          </p:cNvSpPr>
          <p:nvPr/>
        </p:nvSpPr>
        <p:spPr>
          <a:xfrm>
            <a:off x="2578418" y="73599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499" name="left-delay-link-2"/>
          <p:cNvCxnSpPr>
            <a:stCxn id="100" idx="6"/>
            <a:endCxn id="101" idx="2"/>
          </p:cNvCxnSpPr>
          <p:nvPr/>
        </p:nvCxnSpPr>
        <p:spPr>
          <a:xfrm>
            <a:off x="679133" y="7362825"/>
            <a:ext cx="1899285" cy="0"/>
          </a:xfrm>
          <a:prstGeom prst="straightConnector1">
            <a:avLst/>
          </a:prstGeom>
          <a:ln w="11906" cap="rnd">
            <a:solidFill>
              <a:srgbClr val="0964BE"/>
            </a:solidFill>
            <a:prstDash val="dash"/>
            <a:round/>
            <a:headEnd type="triangle" w="sm" len="sm"/>
            <a:tailEnd type="triangle" w="sm" len="sm"/>
          </a:ln>
        </p:spPr>
      </p:cxnSp>
      <p:sp>
        <p:nvSpPr>
          <p:cNvPr id="103" name="left-delay-label-2">
            <a:extLst>
              <a:ext uri="{FF2B5EF4-FFF2-40B4-BE49-F238E27FC236}">
                <a16:creationId xmlns:a16="http://schemas.microsoft.com/office/drawing/2014/main" id="{030094FA-5DE9-4DDD-84A4-072C7A521199}"/>
              </a:ext>
            </a:extLst>
          </p:cNvPr>
          <p:cNvSpPr>
            <a:spLocks noGrp="1"/>
          </p:cNvSpPr>
          <p:nvPr/>
        </p:nvSpPr>
        <p:spPr>
          <a:xfrm>
            <a:off x="1200150" y="71913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4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0" b="1" i="0">
                <a:solidFill>
                  <a:srgbClr val="0964BE"/>
                </a:solidFill>
                <a:cs typeface="Microsoft YaHei"/>
              </a:rPr>
              <a:t>80 ms 信道</a:t>
            </a:r>
          </a:p>
        </p:txBody>
      </p:sp>
      <p:pic>
        <p:nvPicPr>
          <p:cNvPr id="501" name="图片 500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43495" y="7524750"/>
            <a:ext cx="303609" cy="323850"/>
          </a:xfrm>
          <a:prstGeom prst="rect">
            <a:avLst/>
          </a:prstGeom>
        </p:spPr>
      </p:pic>
      <p:pic>
        <p:nvPicPr>
          <p:cNvPr id="502" name="图片 501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610445" y="7524750"/>
            <a:ext cx="303609" cy="323850"/>
          </a:xfrm>
          <a:prstGeom prst="rect">
            <a:avLst/>
          </a:prstGeom>
        </p:spPr>
      </p:pic>
      <p:sp>
        <p:nvSpPr>
          <p:cNvPr id="106" name="left-delay-link-3-from-anchor-23">
            <a:extLst>
              <a:ext uri="{FF2B5EF4-FFF2-40B4-BE49-F238E27FC236}">
                <a16:creationId xmlns:a16="http://schemas.microsoft.com/office/drawing/2014/main" id="{1D90490D-6FDA-4C88-A320-32FA74F42182}"/>
              </a:ext>
            </a:extLst>
          </p:cNvPr>
          <p:cNvSpPr>
            <a:spLocks noGrp="1"/>
          </p:cNvSpPr>
          <p:nvPr/>
        </p:nvSpPr>
        <p:spPr>
          <a:xfrm>
            <a:off x="673418" y="76838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7" name="left-delay-link-3-to-anchor-24">
            <a:extLst>
              <a:ext uri="{FF2B5EF4-FFF2-40B4-BE49-F238E27FC236}">
                <a16:creationId xmlns:a16="http://schemas.microsoft.com/office/drawing/2014/main" id="{3354725A-106A-4B07-8FB4-88C20A41F3B5}"/>
              </a:ext>
            </a:extLst>
          </p:cNvPr>
          <p:cNvSpPr>
            <a:spLocks noGrp="1"/>
          </p:cNvSpPr>
          <p:nvPr/>
        </p:nvSpPr>
        <p:spPr>
          <a:xfrm>
            <a:off x="2578418" y="76838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05" name="left-delay-link-3"/>
          <p:cNvCxnSpPr>
            <a:stCxn id="106" idx="6"/>
            <a:endCxn id="107" idx="2"/>
          </p:cNvCxnSpPr>
          <p:nvPr/>
        </p:nvCxnSpPr>
        <p:spPr>
          <a:xfrm>
            <a:off x="679133" y="7686675"/>
            <a:ext cx="1899285" cy="0"/>
          </a:xfrm>
          <a:prstGeom prst="straightConnector1">
            <a:avLst/>
          </a:prstGeom>
          <a:ln w="11906" cap="rnd">
            <a:solidFill>
              <a:srgbClr val="5B28B3"/>
            </a:solidFill>
            <a:prstDash val="dash"/>
            <a:round/>
            <a:headEnd type="triangle" w="sm" len="sm"/>
            <a:tailEnd type="triangle" w="sm" len="sm"/>
          </a:ln>
        </p:spPr>
      </p:cxnSp>
      <p:sp>
        <p:nvSpPr>
          <p:cNvPr id="109" name="left-delay-label-3">
            <a:extLst>
              <a:ext uri="{FF2B5EF4-FFF2-40B4-BE49-F238E27FC236}">
                <a16:creationId xmlns:a16="http://schemas.microsoft.com/office/drawing/2014/main" id="{3857308A-66F8-4C28-AFA1-9EF4460E969A}"/>
              </a:ext>
            </a:extLst>
          </p:cNvPr>
          <p:cNvSpPr>
            <a:spLocks noGrp="1"/>
          </p:cNvSpPr>
          <p:nvPr/>
        </p:nvSpPr>
        <p:spPr>
          <a:xfrm>
            <a:off x="1200150" y="75152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40" b="1" i="0">
                <a:solidFill>
                  <a:srgbClr val="5B28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0" b="1" i="0">
                <a:solidFill>
                  <a:srgbClr val="5B28B3"/>
                </a:solidFill>
                <a:cs typeface="Microsoft YaHei"/>
              </a:rPr>
              <a:t>140 ms 信道</a:t>
            </a:r>
          </a:p>
        </p:txBody>
      </p:sp>
      <p:sp>
        <p:nvSpPr>
          <p:cNvPr id="110" name="active-grid-card">
            <a:extLst>
              <a:ext uri="{FF2B5EF4-FFF2-40B4-BE49-F238E27FC236}">
                <a16:creationId xmlns:a16="http://schemas.microsoft.com/office/drawing/2014/main" id="{F8C84D38-AD4F-43C9-A051-90328CCCFE00}"/>
              </a:ext>
            </a:extLst>
          </p:cNvPr>
          <p:cNvSpPr>
            <a:spLocks noGrp="1"/>
          </p:cNvSpPr>
          <p:nvPr/>
        </p:nvSpPr>
        <p:spPr>
          <a:xfrm>
            <a:off x="3505200" y="1533525"/>
            <a:ext cx="3181350" cy="2714625"/>
          </a:xfrm>
          <a:prstGeom prst="roundRect">
            <a:avLst>
              <a:gd name="adj" fmla="val 3509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sp>
        <p:nvSpPr>
          <p:cNvPr id="111" name="active-grid-title-fill">
            <a:extLst>
              <a:ext uri="{FF2B5EF4-FFF2-40B4-BE49-F238E27FC236}">
                <a16:creationId xmlns:a16="http://schemas.microsoft.com/office/drawing/2014/main" id="{2687BD17-7CB9-4BAD-9405-EBADD4888E8A}"/>
              </a:ext>
            </a:extLst>
          </p:cNvPr>
          <p:cNvSpPr>
            <a:spLocks noGrp="1"/>
          </p:cNvSpPr>
          <p:nvPr/>
        </p:nvSpPr>
        <p:spPr>
          <a:xfrm>
            <a:off x="3514725" y="1543050"/>
            <a:ext cx="3162300" cy="32385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12" name="active-grid-title">
            <a:extLst>
              <a:ext uri="{FF2B5EF4-FFF2-40B4-BE49-F238E27FC236}">
                <a16:creationId xmlns:a16="http://schemas.microsoft.com/office/drawing/2014/main" id="{E9B48420-D7AB-442A-9723-71FD6E0B45DC}"/>
              </a:ext>
            </a:extLst>
          </p:cNvPr>
          <p:cNvSpPr>
            <a:spLocks noGrp="1"/>
          </p:cNvSpPr>
          <p:nvPr/>
        </p:nvSpPr>
        <p:spPr>
          <a:xfrm>
            <a:off x="4429125" y="1552575"/>
            <a:ext cx="13620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2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 i="0">
                <a:solidFill>
                  <a:srgbClr val="06265F"/>
                </a:solidFill>
                <a:cs typeface="Microsoft YaHei"/>
              </a:rPr>
              <a:t>主动配电网</a:t>
            </a:r>
          </a:p>
        </p:txBody>
      </p:sp>
      <p:pic>
        <p:nvPicPr>
          <p:cNvPr id="510" name="图片 509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3552825" y="1907831"/>
            <a:ext cx="3038475" cy="1213537"/>
          </a:xfrm>
          <a:prstGeom prst="rect">
            <a:avLst/>
          </a:prstGeom>
        </p:spPr>
      </p:pic>
      <p:sp>
        <p:nvSpPr>
          <p:cNvPr id="114" name="active-grid-dg-0">
            <a:extLst>
              <a:ext uri="{FF2B5EF4-FFF2-40B4-BE49-F238E27FC236}">
                <a16:creationId xmlns:a16="http://schemas.microsoft.com/office/drawing/2014/main" id="{ECB551DF-68B1-4B2D-B95E-F1725026E501}"/>
              </a:ext>
            </a:extLst>
          </p:cNvPr>
          <p:cNvSpPr>
            <a:spLocks noGrp="1"/>
          </p:cNvSpPr>
          <p:nvPr/>
        </p:nvSpPr>
        <p:spPr>
          <a:xfrm>
            <a:off x="3867150" y="2962275"/>
            <a:ext cx="419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DG1</a:t>
            </a:r>
          </a:p>
        </p:txBody>
      </p:sp>
      <p:sp>
        <p:nvSpPr>
          <p:cNvPr id="115" name="active-grid-dg-1">
            <a:extLst>
              <a:ext uri="{FF2B5EF4-FFF2-40B4-BE49-F238E27FC236}">
                <a16:creationId xmlns:a16="http://schemas.microsoft.com/office/drawing/2014/main" id="{E82E1D38-2C3E-4178-B4B2-4A3B38767643}"/>
              </a:ext>
            </a:extLst>
          </p:cNvPr>
          <p:cNvSpPr>
            <a:spLocks noGrp="1"/>
          </p:cNvSpPr>
          <p:nvPr/>
        </p:nvSpPr>
        <p:spPr>
          <a:xfrm>
            <a:off x="4410075" y="2962275"/>
            <a:ext cx="419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DG2</a:t>
            </a:r>
          </a:p>
        </p:txBody>
      </p:sp>
      <p:sp>
        <p:nvSpPr>
          <p:cNvPr id="116" name="active-grid-bus-1">
            <a:extLst>
              <a:ext uri="{FF2B5EF4-FFF2-40B4-BE49-F238E27FC236}">
                <a16:creationId xmlns:a16="http://schemas.microsoft.com/office/drawing/2014/main" id="{6422C36E-468E-421A-BD51-69E454102D08}"/>
              </a:ext>
            </a:extLst>
          </p:cNvPr>
          <p:cNvSpPr>
            <a:spLocks noGrp="1"/>
          </p:cNvSpPr>
          <p:nvPr/>
        </p:nvSpPr>
        <p:spPr>
          <a:xfrm>
            <a:off x="4352925" y="3124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D51019"/>
                </a:solidFill>
                <a:cs typeface="Microsoft YaHei"/>
              </a:rPr>
              <a:t>Bus18</a:t>
            </a:r>
          </a:p>
        </p:txBody>
      </p:sp>
      <p:sp>
        <p:nvSpPr>
          <p:cNvPr id="117" name="active-grid-dg-2">
            <a:extLst>
              <a:ext uri="{FF2B5EF4-FFF2-40B4-BE49-F238E27FC236}">
                <a16:creationId xmlns:a16="http://schemas.microsoft.com/office/drawing/2014/main" id="{6D355399-638D-4298-9E74-3D3184FA0149}"/>
              </a:ext>
            </a:extLst>
          </p:cNvPr>
          <p:cNvSpPr>
            <a:spLocks noGrp="1"/>
          </p:cNvSpPr>
          <p:nvPr/>
        </p:nvSpPr>
        <p:spPr>
          <a:xfrm>
            <a:off x="4933950" y="2962275"/>
            <a:ext cx="419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DG2</a:t>
            </a:r>
          </a:p>
        </p:txBody>
      </p:sp>
      <p:sp>
        <p:nvSpPr>
          <p:cNvPr id="118" name="active-grid-dg-3">
            <a:extLst>
              <a:ext uri="{FF2B5EF4-FFF2-40B4-BE49-F238E27FC236}">
                <a16:creationId xmlns:a16="http://schemas.microsoft.com/office/drawing/2014/main" id="{D32C76B5-6F32-4E48-9D77-661E0B92960E}"/>
              </a:ext>
            </a:extLst>
          </p:cNvPr>
          <p:cNvSpPr>
            <a:spLocks noGrp="1"/>
          </p:cNvSpPr>
          <p:nvPr/>
        </p:nvSpPr>
        <p:spPr>
          <a:xfrm>
            <a:off x="5457825" y="2962275"/>
            <a:ext cx="4191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 i="0">
                <a:solidFill>
                  <a:srgbClr val="111111"/>
                </a:solidFill>
                <a:cs typeface="Microsoft YaHei"/>
              </a:rPr>
              <a:t>DG3</a:t>
            </a:r>
          </a:p>
        </p:txBody>
      </p:sp>
      <p:sp>
        <p:nvSpPr>
          <p:cNvPr id="119" name="active-grid-bus-3">
            <a:extLst>
              <a:ext uri="{FF2B5EF4-FFF2-40B4-BE49-F238E27FC236}">
                <a16:creationId xmlns:a16="http://schemas.microsoft.com/office/drawing/2014/main" id="{091A42B7-A208-4741-B7D1-E1DB062C6D39}"/>
              </a:ext>
            </a:extLst>
          </p:cNvPr>
          <p:cNvSpPr>
            <a:spLocks noGrp="1"/>
          </p:cNvSpPr>
          <p:nvPr/>
        </p:nvSpPr>
        <p:spPr>
          <a:xfrm>
            <a:off x="5400675" y="3124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D51019"/>
                </a:solidFill>
                <a:cs typeface="Microsoft YaHei"/>
              </a:rPr>
              <a:t>Bus28</a:t>
            </a:r>
          </a:p>
        </p:txBody>
      </p:sp>
      <p:sp>
        <p:nvSpPr>
          <p:cNvPr id="120" name="active-grid-bus-4">
            <a:extLst>
              <a:ext uri="{FF2B5EF4-FFF2-40B4-BE49-F238E27FC236}">
                <a16:creationId xmlns:a16="http://schemas.microsoft.com/office/drawing/2014/main" id="{1464AF0C-257F-45F4-BFFC-2BB31844C3E2}"/>
              </a:ext>
            </a:extLst>
          </p:cNvPr>
          <p:cNvSpPr>
            <a:spLocks noGrp="1"/>
          </p:cNvSpPr>
          <p:nvPr/>
        </p:nvSpPr>
        <p:spPr>
          <a:xfrm>
            <a:off x="5886450" y="3124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D51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D51019"/>
                </a:solidFill>
                <a:cs typeface="Microsoft YaHei"/>
              </a:rPr>
              <a:t>Bus36</a:t>
            </a:r>
          </a:p>
        </p:txBody>
      </p:sp>
      <p:sp>
        <p:nvSpPr>
          <p:cNvPr id="121" name="active-wave-y">
            <a:extLst>
              <a:ext uri="{FF2B5EF4-FFF2-40B4-BE49-F238E27FC236}">
                <a16:creationId xmlns:a16="http://schemas.microsoft.com/office/drawing/2014/main" id="{8AB86537-301A-44CF-8243-6ED8A9F2B0B5}"/>
              </a:ext>
            </a:extLst>
          </p:cNvPr>
          <p:cNvSpPr>
            <a:spLocks noGrp="1"/>
          </p:cNvSpPr>
          <p:nvPr/>
        </p:nvSpPr>
        <p:spPr>
          <a:xfrm>
            <a:off x="3638550" y="3276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0" i="1">
                <a:solidFill>
                  <a:srgbClr val="111111"/>
                </a:solidFill>
                <a:cs typeface="Microsoft YaHei"/>
              </a:rPr>
              <a:t>ΔV</a:t>
            </a:r>
            <a:r>
              <a:rPr sz="1120" b="0" i="1" baseline="-25000">
                <a:solidFill>
                  <a:srgbClr val="111111"/>
                </a:solidFill>
                <a:cs typeface="Microsoft YaHei"/>
              </a:rPr>
              <a:t>c</a:t>
            </a:r>
          </a:p>
        </p:txBody>
      </p:sp>
      <p:sp>
        <p:nvSpPr>
          <p:cNvPr id="122" name="active-wave-axis-y-from-anchor-25">
            <a:extLst>
              <a:ext uri="{FF2B5EF4-FFF2-40B4-BE49-F238E27FC236}">
                <a16:creationId xmlns:a16="http://schemas.microsoft.com/office/drawing/2014/main" id="{CC46B854-9526-4FB3-A09F-B347533E6234}"/>
              </a:ext>
            </a:extLst>
          </p:cNvPr>
          <p:cNvSpPr>
            <a:spLocks noGrp="1"/>
          </p:cNvSpPr>
          <p:nvPr/>
        </p:nvSpPr>
        <p:spPr>
          <a:xfrm>
            <a:off x="3997643" y="38642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3" name="active-wave-axis-y-to-anchor-26">
            <a:extLst>
              <a:ext uri="{FF2B5EF4-FFF2-40B4-BE49-F238E27FC236}">
                <a16:creationId xmlns:a16="http://schemas.microsoft.com/office/drawing/2014/main" id="{C61B318B-DA72-418E-A420-50FF25F40DD1}"/>
              </a:ext>
            </a:extLst>
          </p:cNvPr>
          <p:cNvSpPr>
            <a:spLocks noGrp="1"/>
          </p:cNvSpPr>
          <p:nvPr/>
        </p:nvSpPr>
        <p:spPr>
          <a:xfrm>
            <a:off x="3997643" y="33689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21" name="active-wave-axis-y"/>
          <p:cNvCxnSpPr>
            <a:stCxn id="122" idx="0"/>
            <a:endCxn id="123" idx="4"/>
          </p:cNvCxnSpPr>
          <p:nvPr/>
        </p:nvCxnSpPr>
        <p:spPr>
          <a:xfrm flipV="1">
            <a:off x="4000501" y="3374708"/>
            <a:ext cx="0" cy="489585"/>
          </a:xfrm>
          <a:prstGeom prst="straightConnector1">
            <a:avLst/>
          </a:prstGeom>
          <a:ln w="10478" cap="rnd">
            <a:solidFill>
              <a:srgbClr val="111111"/>
            </a:solidFill>
            <a:prstDash val="solid"/>
            <a:round/>
            <a:headEnd type="triangle" w="sm" len="sm"/>
          </a:ln>
        </p:spPr>
      </p:cxnSp>
      <p:sp>
        <p:nvSpPr>
          <p:cNvPr id="125" name="active-wave-axis-x-from-anchor-27">
            <a:extLst>
              <a:ext uri="{FF2B5EF4-FFF2-40B4-BE49-F238E27FC236}">
                <a16:creationId xmlns:a16="http://schemas.microsoft.com/office/drawing/2014/main" id="{31AEB1F3-EF48-4E83-8162-FCA712FE7E61}"/>
              </a:ext>
            </a:extLst>
          </p:cNvPr>
          <p:cNvSpPr>
            <a:spLocks noGrp="1"/>
          </p:cNvSpPr>
          <p:nvPr/>
        </p:nvSpPr>
        <p:spPr>
          <a:xfrm>
            <a:off x="3997643" y="38642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6" name="active-wave-axis-x-to-anchor-28">
            <a:extLst>
              <a:ext uri="{FF2B5EF4-FFF2-40B4-BE49-F238E27FC236}">
                <a16:creationId xmlns:a16="http://schemas.microsoft.com/office/drawing/2014/main" id="{899E9C28-FCCB-4859-BE1B-AF4058BB62FC}"/>
              </a:ext>
            </a:extLst>
          </p:cNvPr>
          <p:cNvSpPr>
            <a:spLocks noGrp="1"/>
          </p:cNvSpPr>
          <p:nvPr/>
        </p:nvSpPr>
        <p:spPr>
          <a:xfrm>
            <a:off x="5616893" y="38642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24" name="active-wave-axis-x"/>
          <p:cNvCxnSpPr>
            <a:stCxn id="125" idx="6"/>
            <a:endCxn id="126" idx="2"/>
          </p:cNvCxnSpPr>
          <p:nvPr/>
        </p:nvCxnSpPr>
        <p:spPr>
          <a:xfrm>
            <a:off x="4003358" y="3867151"/>
            <a:ext cx="1613535" cy="0"/>
          </a:xfrm>
          <a:prstGeom prst="straightConnector1">
            <a:avLst/>
          </a:prstGeom>
          <a:ln w="10478" cap="rnd">
            <a:solidFill>
              <a:srgbClr val="111111"/>
            </a:solidFill>
            <a:prstDash val="solid"/>
            <a:round/>
            <a:tailEnd type="triangle" w="sm" len="sm"/>
          </a:ln>
        </p:spPr>
      </p:cxnSp>
      <p:sp>
        <p:nvSpPr>
          <p:cNvPr id="128" name="active-wave-ref-from-anchor-29">
            <a:extLst>
              <a:ext uri="{FF2B5EF4-FFF2-40B4-BE49-F238E27FC236}">
                <a16:creationId xmlns:a16="http://schemas.microsoft.com/office/drawing/2014/main" id="{07A82715-311F-450A-8ADA-26DB1DC562BB}"/>
              </a:ext>
            </a:extLst>
          </p:cNvPr>
          <p:cNvSpPr>
            <a:spLocks noGrp="1"/>
          </p:cNvSpPr>
          <p:nvPr/>
        </p:nvSpPr>
        <p:spPr>
          <a:xfrm>
            <a:off x="4007168" y="35213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9" name="active-wave-ref-to-anchor-30">
            <a:extLst>
              <a:ext uri="{FF2B5EF4-FFF2-40B4-BE49-F238E27FC236}">
                <a16:creationId xmlns:a16="http://schemas.microsoft.com/office/drawing/2014/main" id="{AD7A4AB9-03C9-4750-A4C4-583F248B88EF}"/>
              </a:ext>
            </a:extLst>
          </p:cNvPr>
          <p:cNvSpPr>
            <a:spLocks noGrp="1"/>
          </p:cNvSpPr>
          <p:nvPr/>
        </p:nvSpPr>
        <p:spPr>
          <a:xfrm>
            <a:off x="5559743" y="35213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27" name="active-wave-ref"/>
          <p:cNvCxnSpPr>
            <a:stCxn id="128" idx="6"/>
            <a:endCxn id="129" idx="2"/>
          </p:cNvCxnSpPr>
          <p:nvPr/>
        </p:nvCxnSpPr>
        <p:spPr>
          <a:xfrm>
            <a:off x="4012883" y="3524251"/>
            <a:ext cx="1546860" cy="0"/>
          </a:xfrm>
          <a:prstGeom prst="straightConnector1">
            <a:avLst/>
          </a:prstGeom>
          <a:ln w="8573" cap="rnd">
            <a:solidFill>
              <a:srgbClr val="777777"/>
            </a:solidFill>
            <a:prstDash val="dash"/>
            <a:round/>
          </a:ln>
        </p:spPr>
      </p:cxnSp>
      <p:sp>
        <p:nvSpPr>
          <p:cNvPr id="131" name="active-wave-seg-0-from-anchor-31">
            <a:extLst>
              <a:ext uri="{FF2B5EF4-FFF2-40B4-BE49-F238E27FC236}">
                <a16:creationId xmlns:a16="http://schemas.microsoft.com/office/drawing/2014/main" id="{91000B3C-3AE4-4F55-A77C-0432E9FCC05E}"/>
              </a:ext>
            </a:extLst>
          </p:cNvPr>
          <p:cNvSpPr>
            <a:spLocks noGrp="1"/>
          </p:cNvSpPr>
          <p:nvPr/>
        </p:nvSpPr>
        <p:spPr>
          <a:xfrm>
            <a:off x="3997643" y="35309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2" name="active-wave-seg-0-to-anchor-32">
            <a:extLst>
              <a:ext uri="{FF2B5EF4-FFF2-40B4-BE49-F238E27FC236}">
                <a16:creationId xmlns:a16="http://schemas.microsoft.com/office/drawing/2014/main" id="{1331F806-6ACB-466B-ABD5-BC4ACB09C95E}"/>
              </a:ext>
            </a:extLst>
          </p:cNvPr>
          <p:cNvSpPr>
            <a:spLocks noGrp="1"/>
          </p:cNvSpPr>
          <p:nvPr/>
        </p:nvSpPr>
        <p:spPr>
          <a:xfrm>
            <a:off x="4207193" y="35404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30" name="active-wave-seg-0"/>
          <p:cNvCxnSpPr>
            <a:stCxn id="131" idx="6"/>
            <a:endCxn id="132" idx="2"/>
          </p:cNvCxnSpPr>
          <p:nvPr/>
        </p:nvCxnSpPr>
        <p:spPr>
          <a:xfrm>
            <a:off x="4003358" y="3533776"/>
            <a:ext cx="203835" cy="9525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34" name="active-wave-seg-1-from-anchor-33">
            <a:extLst>
              <a:ext uri="{FF2B5EF4-FFF2-40B4-BE49-F238E27FC236}">
                <a16:creationId xmlns:a16="http://schemas.microsoft.com/office/drawing/2014/main" id="{0D150CC7-B5A5-43B5-B9E4-A6D5801916D2}"/>
              </a:ext>
            </a:extLst>
          </p:cNvPr>
          <p:cNvSpPr>
            <a:spLocks noGrp="1"/>
          </p:cNvSpPr>
          <p:nvPr/>
        </p:nvSpPr>
        <p:spPr>
          <a:xfrm>
            <a:off x="4207193" y="35404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5" name="active-wave-seg-1-to-anchor-34">
            <a:extLst>
              <a:ext uri="{FF2B5EF4-FFF2-40B4-BE49-F238E27FC236}">
                <a16:creationId xmlns:a16="http://schemas.microsoft.com/office/drawing/2014/main" id="{F3C61254-17E4-48BB-B879-0700452CB707}"/>
              </a:ext>
            </a:extLst>
          </p:cNvPr>
          <p:cNvSpPr>
            <a:spLocks noGrp="1"/>
          </p:cNvSpPr>
          <p:nvPr/>
        </p:nvSpPr>
        <p:spPr>
          <a:xfrm>
            <a:off x="4350068" y="36833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33" name="active-wave-seg-1"/>
          <p:cNvCxnSpPr>
            <a:stCxn id="134" idx="5"/>
            <a:endCxn id="135" idx="1"/>
          </p:cNvCxnSpPr>
          <p:nvPr/>
        </p:nvCxnSpPr>
        <p:spPr>
          <a:xfrm>
            <a:off x="4212071" y="3545321"/>
            <a:ext cx="138834" cy="138834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37" name="active-wave-seg-2-from-anchor-35">
            <a:extLst>
              <a:ext uri="{FF2B5EF4-FFF2-40B4-BE49-F238E27FC236}">
                <a16:creationId xmlns:a16="http://schemas.microsoft.com/office/drawing/2014/main" id="{BC36AAD5-45E6-483A-B8BF-583C7F7F749C}"/>
              </a:ext>
            </a:extLst>
          </p:cNvPr>
          <p:cNvSpPr>
            <a:spLocks noGrp="1"/>
          </p:cNvSpPr>
          <p:nvPr/>
        </p:nvSpPr>
        <p:spPr>
          <a:xfrm>
            <a:off x="4350068" y="36833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8" name="active-wave-seg-2-to-anchor-36">
            <a:extLst>
              <a:ext uri="{FF2B5EF4-FFF2-40B4-BE49-F238E27FC236}">
                <a16:creationId xmlns:a16="http://schemas.microsoft.com/office/drawing/2014/main" id="{39E526CF-1B3A-403B-B4DA-135DDEAB3F3C}"/>
              </a:ext>
            </a:extLst>
          </p:cNvPr>
          <p:cNvSpPr>
            <a:spLocks noGrp="1"/>
          </p:cNvSpPr>
          <p:nvPr/>
        </p:nvSpPr>
        <p:spPr>
          <a:xfrm>
            <a:off x="4492943" y="37976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36" name="active-wave-seg-2"/>
          <p:cNvCxnSpPr>
            <a:stCxn id="137" idx="5"/>
            <a:endCxn id="138" idx="1"/>
          </p:cNvCxnSpPr>
          <p:nvPr/>
        </p:nvCxnSpPr>
        <p:spPr>
          <a:xfrm>
            <a:off x="4354946" y="3688196"/>
            <a:ext cx="138834" cy="110259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40" name="active-wave-seg-3-from-anchor-37">
            <a:extLst>
              <a:ext uri="{FF2B5EF4-FFF2-40B4-BE49-F238E27FC236}">
                <a16:creationId xmlns:a16="http://schemas.microsoft.com/office/drawing/2014/main" id="{90472513-934F-4BD6-8B9B-4CFBC106D639}"/>
              </a:ext>
            </a:extLst>
          </p:cNvPr>
          <p:cNvSpPr>
            <a:spLocks noGrp="1"/>
          </p:cNvSpPr>
          <p:nvPr/>
        </p:nvSpPr>
        <p:spPr>
          <a:xfrm>
            <a:off x="4492943" y="37976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1" name="active-wave-seg-3-to-anchor-38">
            <a:extLst>
              <a:ext uri="{FF2B5EF4-FFF2-40B4-BE49-F238E27FC236}">
                <a16:creationId xmlns:a16="http://schemas.microsoft.com/office/drawing/2014/main" id="{BB878F36-F0E4-49F2-8EC3-B84DEF5D59EC}"/>
              </a:ext>
            </a:extLst>
          </p:cNvPr>
          <p:cNvSpPr>
            <a:spLocks noGrp="1"/>
          </p:cNvSpPr>
          <p:nvPr/>
        </p:nvSpPr>
        <p:spPr>
          <a:xfrm>
            <a:off x="4664393" y="36833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39" name="active-wave-seg-3"/>
          <p:cNvCxnSpPr>
            <a:stCxn id="140" idx="7"/>
            <a:endCxn id="141" idx="3"/>
          </p:cNvCxnSpPr>
          <p:nvPr/>
        </p:nvCxnSpPr>
        <p:spPr>
          <a:xfrm flipV="1">
            <a:off x="4497821" y="3688196"/>
            <a:ext cx="167409" cy="110259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43" name="active-wave-seg-4-from-anchor-39">
            <a:extLst>
              <a:ext uri="{FF2B5EF4-FFF2-40B4-BE49-F238E27FC236}">
                <a16:creationId xmlns:a16="http://schemas.microsoft.com/office/drawing/2014/main" id="{B7B92EBC-D807-4DC4-A9A1-BB159FD0A09B}"/>
              </a:ext>
            </a:extLst>
          </p:cNvPr>
          <p:cNvSpPr>
            <a:spLocks noGrp="1"/>
          </p:cNvSpPr>
          <p:nvPr/>
        </p:nvSpPr>
        <p:spPr>
          <a:xfrm>
            <a:off x="4664393" y="36833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4" name="active-wave-seg-4-to-anchor-40">
            <a:extLst>
              <a:ext uri="{FF2B5EF4-FFF2-40B4-BE49-F238E27FC236}">
                <a16:creationId xmlns:a16="http://schemas.microsoft.com/office/drawing/2014/main" id="{B290E262-C516-4AA7-A6BD-60CBDB2FD03D}"/>
              </a:ext>
            </a:extLst>
          </p:cNvPr>
          <p:cNvSpPr>
            <a:spLocks noGrp="1"/>
          </p:cNvSpPr>
          <p:nvPr/>
        </p:nvSpPr>
        <p:spPr>
          <a:xfrm>
            <a:off x="4835843" y="36166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42" name="active-wave-seg-4"/>
          <p:cNvCxnSpPr>
            <a:stCxn id="143" idx="6"/>
            <a:endCxn id="144" idx="2"/>
          </p:cNvCxnSpPr>
          <p:nvPr/>
        </p:nvCxnSpPr>
        <p:spPr>
          <a:xfrm flipV="1">
            <a:off x="4670108" y="3619501"/>
            <a:ext cx="165735" cy="66675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46" name="active-wave-seg-5-from-anchor-41">
            <a:extLst>
              <a:ext uri="{FF2B5EF4-FFF2-40B4-BE49-F238E27FC236}">
                <a16:creationId xmlns:a16="http://schemas.microsoft.com/office/drawing/2014/main" id="{2F5E29FE-8BDA-494A-9754-4EB51960A9B8}"/>
              </a:ext>
            </a:extLst>
          </p:cNvPr>
          <p:cNvSpPr>
            <a:spLocks noGrp="1"/>
          </p:cNvSpPr>
          <p:nvPr/>
        </p:nvSpPr>
        <p:spPr>
          <a:xfrm>
            <a:off x="4835843" y="36166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7" name="active-wave-seg-5-to-anchor-42">
            <a:extLst>
              <a:ext uri="{FF2B5EF4-FFF2-40B4-BE49-F238E27FC236}">
                <a16:creationId xmlns:a16="http://schemas.microsoft.com/office/drawing/2014/main" id="{29E7B4E3-1F0A-4C6F-9E3C-48E621E8A474}"/>
              </a:ext>
            </a:extLst>
          </p:cNvPr>
          <p:cNvSpPr>
            <a:spLocks noGrp="1"/>
          </p:cNvSpPr>
          <p:nvPr/>
        </p:nvSpPr>
        <p:spPr>
          <a:xfrm>
            <a:off x="5016818" y="36261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45" name="active-wave-seg-5"/>
          <p:cNvCxnSpPr>
            <a:stCxn id="146" idx="6"/>
            <a:endCxn id="147" idx="2"/>
          </p:cNvCxnSpPr>
          <p:nvPr/>
        </p:nvCxnSpPr>
        <p:spPr>
          <a:xfrm>
            <a:off x="4841558" y="3619501"/>
            <a:ext cx="175260" cy="9525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49" name="active-wave-seg-6-from-anchor-43">
            <a:extLst>
              <a:ext uri="{FF2B5EF4-FFF2-40B4-BE49-F238E27FC236}">
                <a16:creationId xmlns:a16="http://schemas.microsoft.com/office/drawing/2014/main" id="{B7599C5D-DFAD-4DB0-819E-A74E98AED3AE}"/>
              </a:ext>
            </a:extLst>
          </p:cNvPr>
          <p:cNvSpPr>
            <a:spLocks noGrp="1"/>
          </p:cNvSpPr>
          <p:nvPr/>
        </p:nvSpPr>
        <p:spPr>
          <a:xfrm>
            <a:off x="5016818" y="36261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0" name="active-wave-seg-6-to-anchor-44">
            <a:extLst>
              <a:ext uri="{FF2B5EF4-FFF2-40B4-BE49-F238E27FC236}">
                <a16:creationId xmlns:a16="http://schemas.microsoft.com/office/drawing/2014/main" id="{4A52DFD6-63AB-48F3-A7E5-8120DE92D676}"/>
              </a:ext>
            </a:extLst>
          </p:cNvPr>
          <p:cNvSpPr>
            <a:spLocks noGrp="1"/>
          </p:cNvSpPr>
          <p:nvPr/>
        </p:nvSpPr>
        <p:spPr>
          <a:xfrm>
            <a:off x="5188268" y="3578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48" name="active-wave-seg-6"/>
          <p:cNvCxnSpPr>
            <a:stCxn id="149" idx="6"/>
            <a:endCxn id="150" idx="2"/>
          </p:cNvCxnSpPr>
          <p:nvPr/>
        </p:nvCxnSpPr>
        <p:spPr>
          <a:xfrm flipV="1">
            <a:off x="5022533" y="3581401"/>
            <a:ext cx="165735" cy="47625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52" name="active-wave-seg-7-from-anchor-45">
            <a:extLst>
              <a:ext uri="{FF2B5EF4-FFF2-40B4-BE49-F238E27FC236}">
                <a16:creationId xmlns:a16="http://schemas.microsoft.com/office/drawing/2014/main" id="{0F849278-5F36-45BC-AE15-18C9E8FC9C6D}"/>
              </a:ext>
            </a:extLst>
          </p:cNvPr>
          <p:cNvSpPr>
            <a:spLocks noGrp="1"/>
          </p:cNvSpPr>
          <p:nvPr/>
        </p:nvSpPr>
        <p:spPr>
          <a:xfrm>
            <a:off x="5188268" y="3578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3" name="active-wave-seg-7-to-anchor-46">
            <a:extLst>
              <a:ext uri="{FF2B5EF4-FFF2-40B4-BE49-F238E27FC236}">
                <a16:creationId xmlns:a16="http://schemas.microsoft.com/office/drawing/2014/main" id="{BC2F707D-A3FF-4FAB-B519-35C106404F44}"/>
              </a:ext>
            </a:extLst>
          </p:cNvPr>
          <p:cNvSpPr>
            <a:spLocks noGrp="1"/>
          </p:cNvSpPr>
          <p:nvPr/>
        </p:nvSpPr>
        <p:spPr>
          <a:xfrm>
            <a:off x="5359718" y="35975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51" name="active-wave-seg-7"/>
          <p:cNvCxnSpPr>
            <a:stCxn id="152" idx="6"/>
            <a:endCxn id="153" idx="2"/>
          </p:cNvCxnSpPr>
          <p:nvPr/>
        </p:nvCxnSpPr>
        <p:spPr>
          <a:xfrm>
            <a:off x="5193983" y="3581401"/>
            <a:ext cx="165735" cy="19050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55" name="active-wave-seg-8-from-anchor-47">
            <a:extLst>
              <a:ext uri="{FF2B5EF4-FFF2-40B4-BE49-F238E27FC236}">
                <a16:creationId xmlns:a16="http://schemas.microsoft.com/office/drawing/2014/main" id="{FE7A9E95-8A87-467D-A496-B9D649E3F5EF}"/>
              </a:ext>
            </a:extLst>
          </p:cNvPr>
          <p:cNvSpPr>
            <a:spLocks noGrp="1"/>
          </p:cNvSpPr>
          <p:nvPr/>
        </p:nvSpPr>
        <p:spPr>
          <a:xfrm>
            <a:off x="5359718" y="35975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6" name="active-wave-seg-8-to-anchor-48">
            <a:extLst>
              <a:ext uri="{FF2B5EF4-FFF2-40B4-BE49-F238E27FC236}">
                <a16:creationId xmlns:a16="http://schemas.microsoft.com/office/drawing/2014/main" id="{131F81AC-C4FD-47BF-9546-599F9F9F6B38}"/>
              </a:ext>
            </a:extLst>
          </p:cNvPr>
          <p:cNvSpPr>
            <a:spLocks noGrp="1"/>
          </p:cNvSpPr>
          <p:nvPr/>
        </p:nvSpPr>
        <p:spPr>
          <a:xfrm>
            <a:off x="5521643" y="35594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54" name="active-wave-seg-8"/>
          <p:cNvCxnSpPr>
            <a:stCxn id="155" idx="6"/>
            <a:endCxn id="156" idx="2"/>
          </p:cNvCxnSpPr>
          <p:nvPr/>
        </p:nvCxnSpPr>
        <p:spPr>
          <a:xfrm flipV="1">
            <a:off x="5365433" y="3562351"/>
            <a:ext cx="156210" cy="38100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158" name="active-wave-t">
            <a:extLst>
              <a:ext uri="{FF2B5EF4-FFF2-40B4-BE49-F238E27FC236}">
                <a16:creationId xmlns:a16="http://schemas.microsoft.com/office/drawing/2014/main" id="{F8F586E9-5DE4-41B3-908A-8BBFB6A5EDBF}"/>
              </a:ext>
            </a:extLst>
          </p:cNvPr>
          <p:cNvSpPr>
            <a:spLocks noGrp="1"/>
          </p:cNvSpPr>
          <p:nvPr/>
        </p:nvSpPr>
        <p:spPr>
          <a:xfrm>
            <a:off x="5572125" y="379095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80" b="0" i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80" b="0" i="1">
                <a:solidFill>
                  <a:srgbClr val="111111"/>
                </a:solidFill>
                <a:cs typeface="Microsoft YaHei"/>
              </a:rPr>
              <a:t>t</a:t>
            </a:r>
          </a:p>
        </p:txBody>
      </p:sp>
      <p:sp>
        <p:nvSpPr>
          <p:cNvPr id="159" name="active-wave-caption">
            <a:extLst>
              <a:ext uri="{FF2B5EF4-FFF2-40B4-BE49-F238E27FC236}">
                <a16:creationId xmlns:a16="http://schemas.microsoft.com/office/drawing/2014/main" id="{689953BD-6D4F-46D3-B0D1-8D3D077DFBEC}"/>
              </a:ext>
            </a:extLst>
          </p:cNvPr>
          <p:cNvSpPr>
            <a:spLocks noGrp="1"/>
          </p:cNvSpPr>
          <p:nvPr/>
        </p:nvSpPr>
        <p:spPr>
          <a:xfrm>
            <a:off x="4038600" y="3895725"/>
            <a:ext cx="161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11111"/>
                </a:solidFill>
                <a:cs typeface="Microsoft YaHei"/>
              </a:rPr>
              <a:t>电压扰动（电压下跌）</a:t>
            </a:r>
          </a:p>
        </p:txBody>
      </p:sp>
      <p:pic>
        <p:nvPicPr>
          <p:cNvPr id="557" name="图片 55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5848350" y="3450091"/>
            <a:ext cx="647700" cy="462643"/>
          </a:xfrm>
          <a:prstGeom prst="rect">
            <a:avLst/>
          </a:prstGeom>
        </p:spPr>
      </p:pic>
      <p:sp>
        <p:nvSpPr>
          <p:cNvPr id="161" name="active-pmu-label">
            <a:extLst>
              <a:ext uri="{FF2B5EF4-FFF2-40B4-BE49-F238E27FC236}">
                <a16:creationId xmlns:a16="http://schemas.microsoft.com/office/drawing/2014/main" id="{C2D6E0E7-0143-4C05-BFAB-422B5AC8A42C}"/>
              </a:ext>
            </a:extLst>
          </p:cNvPr>
          <p:cNvSpPr>
            <a:spLocks noGrp="1"/>
          </p:cNvSpPr>
          <p:nvPr/>
        </p:nvSpPr>
        <p:spPr>
          <a:xfrm>
            <a:off x="6105525" y="3267075"/>
            <a:ext cx="419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4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0" b="0" i="0">
                <a:solidFill>
                  <a:srgbClr val="111111"/>
                </a:solidFill>
                <a:cs typeface="Microsoft YaHei"/>
              </a:rPr>
              <a:t>PMU</a:t>
            </a:r>
          </a:p>
        </p:txBody>
      </p:sp>
      <p:sp>
        <p:nvSpPr>
          <p:cNvPr id="162" name="active-pmu-up-arrow-from-anchor-49">
            <a:extLst>
              <a:ext uri="{FF2B5EF4-FFF2-40B4-BE49-F238E27FC236}">
                <a16:creationId xmlns:a16="http://schemas.microsoft.com/office/drawing/2014/main" id="{F1ACE1A1-0B81-470B-8FDE-17D3DF2EDF76}"/>
              </a:ext>
            </a:extLst>
          </p:cNvPr>
          <p:cNvSpPr>
            <a:spLocks noGrp="1"/>
          </p:cNvSpPr>
          <p:nvPr/>
        </p:nvSpPr>
        <p:spPr>
          <a:xfrm>
            <a:off x="5921693" y="33975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3" name="active-pmu-up-arrow-to-anchor-50">
            <a:extLst>
              <a:ext uri="{FF2B5EF4-FFF2-40B4-BE49-F238E27FC236}">
                <a16:creationId xmlns:a16="http://schemas.microsoft.com/office/drawing/2014/main" id="{8C1FED1E-DA69-4006-B974-A51CB048C56F}"/>
              </a:ext>
            </a:extLst>
          </p:cNvPr>
          <p:cNvSpPr>
            <a:spLocks noGrp="1"/>
          </p:cNvSpPr>
          <p:nvPr/>
        </p:nvSpPr>
        <p:spPr>
          <a:xfrm>
            <a:off x="5921693" y="32070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561" name="active-pmu-up-arrow"/>
          <p:cNvCxnSpPr>
            <a:stCxn id="162" idx="0"/>
            <a:endCxn id="163" idx="4"/>
          </p:cNvCxnSpPr>
          <p:nvPr/>
        </p:nvCxnSpPr>
        <p:spPr>
          <a:xfrm flipV="1">
            <a:off x="5924550" y="3212783"/>
            <a:ext cx="0" cy="184785"/>
          </a:xfrm>
          <a:prstGeom prst="straightConnector1">
            <a:avLst/>
          </a:prstGeom>
          <a:ln w="11430" cap="rnd">
            <a:solidFill>
              <a:srgbClr val="0964BE"/>
            </a:solidFill>
            <a:prstDash val="solid"/>
            <a:round/>
            <a:tailEnd type="triangle" w="sm" len="sm"/>
          </a:ln>
        </p:spPr>
      </p:cxnSp>
      <p:sp>
        <p:nvSpPr>
          <p:cNvPr id="165" name="active-sync-label">
            <a:extLst>
              <a:ext uri="{FF2B5EF4-FFF2-40B4-BE49-F238E27FC236}">
                <a16:creationId xmlns:a16="http://schemas.microsoft.com/office/drawing/2014/main" id="{8CC10047-09A3-4D82-B2A2-1D60E905C053}"/>
              </a:ext>
            </a:extLst>
          </p:cNvPr>
          <p:cNvSpPr>
            <a:spLocks noGrp="1"/>
          </p:cNvSpPr>
          <p:nvPr/>
        </p:nvSpPr>
        <p:spPr>
          <a:xfrm>
            <a:off x="5857875" y="39624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7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0" b="1" i="0">
                <a:solidFill>
                  <a:srgbClr val="0964BE"/>
                </a:solidFill>
                <a:cs typeface="Microsoft YaHei"/>
              </a:rPr>
              <a:t>同步量测</a:t>
            </a:r>
          </a:p>
        </p:txBody>
      </p:sp>
      <p:sp>
        <p:nvSpPr>
          <p:cNvPr id="166" name="switch-model-card">
            <a:extLst>
              <a:ext uri="{FF2B5EF4-FFF2-40B4-BE49-F238E27FC236}">
                <a16:creationId xmlns:a16="http://schemas.microsoft.com/office/drawing/2014/main" id="{A2C0989E-7B9C-4D94-BC37-594AFB77C858}"/>
              </a:ext>
            </a:extLst>
          </p:cNvPr>
          <p:cNvSpPr>
            <a:spLocks noGrp="1"/>
          </p:cNvSpPr>
          <p:nvPr/>
        </p:nvSpPr>
        <p:spPr>
          <a:xfrm>
            <a:off x="7820025" y="1533525"/>
            <a:ext cx="3714750" cy="2390775"/>
          </a:xfrm>
          <a:prstGeom prst="roundRect">
            <a:avLst>
              <a:gd name="adj" fmla="val 3984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sp>
        <p:nvSpPr>
          <p:cNvPr id="167" name="switch-model-title-fill">
            <a:extLst>
              <a:ext uri="{FF2B5EF4-FFF2-40B4-BE49-F238E27FC236}">
                <a16:creationId xmlns:a16="http://schemas.microsoft.com/office/drawing/2014/main" id="{A1016B76-734C-4050-9048-08922D13342E}"/>
              </a:ext>
            </a:extLst>
          </p:cNvPr>
          <p:cNvSpPr>
            <a:spLocks noGrp="1"/>
          </p:cNvSpPr>
          <p:nvPr/>
        </p:nvSpPr>
        <p:spPr>
          <a:xfrm>
            <a:off x="7829550" y="1543050"/>
            <a:ext cx="3695700" cy="333375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68" name="switch-model-title">
            <a:extLst>
              <a:ext uri="{FF2B5EF4-FFF2-40B4-BE49-F238E27FC236}">
                <a16:creationId xmlns:a16="http://schemas.microsoft.com/office/drawing/2014/main" id="{5109751A-4F50-43A5-B531-0E8C33444D79}"/>
              </a:ext>
            </a:extLst>
          </p:cNvPr>
          <p:cNvSpPr>
            <a:spLocks noGrp="1"/>
          </p:cNvSpPr>
          <p:nvPr/>
        </p:nvSpPr>
        <p:spPr>
          <a:xfrm>
            <a:off x="8562975" y="1552575"/>
            <a:ext cx="2238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0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06265F"/>
                </a:solidFill>
                <a:cs typeface="Microsoft YaHei"/>
              </a:rPr>
              <a:t>统一切换系统模型</a:t>
            </a:r>
          </a:p>
        </p:txBody>
      </p:sp>
      <p:sp>
        <p:nvSpPr>
          <p:cNvPr id="169" name="model-sheet-back-2">
            <a:extLst>
              <a:ext uri="{FF2B5EF4-FFF2-40B4-BE49-F238E27FC236}">
                <a16:creationId xmlns:a16="http://schemas.microsoft.com/office/drawing/2014/main" id="{7B053872-6BA4-48BF-AEDF-DC3C30A80758}"/>
              </a:ext>
            </a:extLst>
          </p:cNvPr>
          <p:cNvSpPr>
            <a:spLocks noGrp="1"/>
          </p:cNvSpPr>
          <p:nvPr/>
        </p:nvSpPr>
        <p:spPr>
          <a:xfrm>
            <a:off x="8029575" y="1943100"/>
            <a:ext cx="1762125" cy="12192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8573">
            <a:solidFill>
              <a:srgbClr val="9DA8B5"/>
            </a:solidFill>
            <a:prstDash val="solid"/>
          </a:ln>
        </p:spPr>
      </p:sp>
      <p:sp>
        <p:nvSpPr>
          <p:cNvPr id="170" name="model-sheet-back-1">
            <a:extLst>
              <a:ext uri="{FF2B5EF4-FFF2-40B4-BE49-F238E27FC236}">
                <a16:creationId xmlns:a16="http://schemas.microsoft.com/office/drawing/2014/main" id="{D6CB923D-35F9-49A2-971D-B9266C523761}"/>
              </a:ext>
            </a:extLst>
          </p:cNvPr>
          <p:cNvSpPr>
            <a:spLocks noGrp="1"/>
          </p:cNvSpPr>
          <p:nvPr/>
        </p:nvSpPr>
        <p:spPr>
          <a:xfrm>
            <a:off x="7934325" y="1971675"/>
            <a:ext cx="1762125" cy="12192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8573">
            <a:solidFill>
              <a:srgbClr val="9DA8B5"/>
            </a:solidFill>
            <a:prstDash val="solid"/>
          </a:ln>
        </p:spPr>
      </p:sp>
      <p:sp>
        <p:nvSpPr>
          <p:cNvPr id="171" name="model-sheet-front">
            <a:extLst>
              <a:ext uri="{FF2B5EF4-FFF2-40B4-BE49-F238E27FC236}">
                <a16:creationId xmlns:a16="http://schemas.microsoft.com/office/drawing/2014/main" id="{CF8DC9E3-3CC8-45F5-A893-3767AEF9121A}"/>
              </a:ext>
            </a:extLst>
          </p:cNvPr>
          <p:cNvSpPr>
            <a:spLocks noGrp="1"/>
          </p:cNvSpPr>
          <p:nvPr/>
        </p:nvSpPr>
        <p:spPr>
          <a:xfrm>
            <a:off x="7848600" y="2038350"/>
            <a:ext cx="1743075" cy="11049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7E8B9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OfficeEq-Model-1">
                <a:extLst>
                  <a:ext uri="{FF2B5EF4-FFF2-40B4-BE49-F238E27FC236}">
                    <a16:creationId xmlns:a16="http://schemas.microsoft.com/office/drawing/2014/main" id="{5393A380-43D0-4ED3-9F9C-9D8B92295B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981950" y="2133600"/>
                <a:ext cx="1504950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0" rIns="9525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220" b="0" i="1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14:m>
                  <m:oMathPara xmlns:m="http://schemas.openxmlformats.org/officeDocument/2006/math">
                    <m:oMath>
                      <m:r>
                        <a:rPr lang="pl-PL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𝑥</m:t>
                      </m:r>
                      <m:d>
                        <m:dPr>
                          <m:ctrlP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+1</m:t>
                          </m:r>
                        </m:e>
                      </m:d>
                      <m:r>
                        <a:rPr lang="pl-PL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=</m:t>
                      </m:r>
                      <m:sSub>
                        <m:sSubPr>
                          <m:ctrlP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bPr>
                        <m:e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𝐴</m:t>
                          </m:r>
                        </m:e>
                        <m:sub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  <m:r>
                        <a:rPr lang="pl-PL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𝑥</m:t>
                      </m:r>
                      <m:d>
                        <m:dPr>
                          <m:ctrlP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72" name="OfficeEq-Model-1">
                <a:extLst>
                  <a:ext uri="{FF2B5EF4-FFF2-40B4-BE49-F238E27FC236}">
                    <a16:creationId xmlns:a16="http://schemas.microsoft.com/office/drawing/2014/main" id="{5393A380-43D0-4ED3-9F9C-9D8B92295B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950" y="2133600"/>
                <a:ext cx="1504950" cy="285750"/>
              </a:xfrm>
              <a:prstGeom prst="rect">
                <a:avLst/>
              </a:prstGeom>
              <a:blipFill>
                <a:blip r:embed="rId13"/>
                <a:stretch>
                  <a:fillRect l="-810" t="-2128" r="-5263" b="-1276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OfficeEq-Model-2">
                <a:extLst>
                  <a:ext uri="{FF2B5EF4-FFF2-40B4-BE49-F238E27FC236}">
                    <a16:creationId xmlns:a16="http://schemas.microsoft.com/office/drawing/2014/main" id="{39FBCDBB-FA73-4295-A98E-8B74EA2148C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96250" y="2400300"/>
                <a:ext cx="1390650" cy="276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0" rIns="9525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220" b="0" i="1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14:m>
                  <m:oMathPara xmlns:m="http://schemas.openxmlformats.org/officeDocument/2006/math">
                    <m:oMath>
                      <m:r>
                        <a:rPr lang="pl-PL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+</m:t>
                      </m:r>
                      <m:sSub>
                        <m:sSubPr>
                          <m:ctrlP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bPr>
                        <m:e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𝐵</m:t>
                          </m:r>
                        </m:e>
                        <m:sub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  <m:r>
                        <a:rPr lang="pl-PL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𝑢</m:t>
                      </m:r>
                      <m:d>
                        <m:dPr>
                          <m:ctrlP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−</m:t>
                          </m:r>
                          <m:r>
                            <a:rPr lang="pl-PL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𝜏</m:t>
                          </m:r>
                          <m:d>
                            <m:dPr>
                              <m:ctrlPr>
                                <a:rPr lang="pl-PL" sz="12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</m:ctrlPr>
                            </m:dPr>
                            <m:e>
                              <m:r>
                                <a:rPr lang="pl-PL" sz="12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73" name="OfficeEq-Model-2">
                <a:extLst>
                  <a:ext uri="{FF2B5EF4-FFF2-40B4-BE49-F238E27FC236}">
                    <a16:creationId xmlns:a16="http://schemas.microsoft.com/office/drawing/2014/main" id="{39FBCDBB-FA73-4295-A98E-8B74EA214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50" y="2400300"/>
                <a:ext cx="1390650" cy="276225"/>
              </a:xfrm>
              <a:prstGeom prst="rect">
                <a:avLst/>
              </a:prstGeom>
              <a:blipFill>
                <a:blip r:embed="rId14"/>
                <a:stretch>
                  <a:fillRect l="-439" t="-2222" r="-3070" b="-1777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OfficeEq-Model-3">
                <a:extLst>
                  <a:ext uri="{FF2B5EF4-FFF2-40B4-BE49-F238E27FC236}">
                    <a16:creationId xmlns:a16="http://schemas.microsoft.com/office/drawing/2014/main" id="{2486F2BE-96CD-4C85-8A54-232217C870D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981950" y="2686050"/>
                <a:ext cx="1504950" cy="2952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0" rIns="9525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220" b="0" i="1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s-ES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𝑦</m:t>
                      </m:r>
                      <m:d>
                        <m:dPr>
                          <m:ctrlP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  <m:r>
                        <a:rPr lang="es-ES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=</m:t>
                      </m:r>
                      <m:sSub>
                        <m:sSubPr>
                          <m:ctrlP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𝐶</m:t>
                          </m:r>
                        </m:e>
                        <m:sub>
                          <m: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  <m:r>
                        <a:rPr lang="es-ES" sz="12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𝑥</m:t>
                      </m:r>
                      <m:d>
                        <m:dPr>
                          <m:ctrlP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es-ES" sz="12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74" name="OfficeEq-Model-3">
                <a:extLst>
                  <a:ext uri="{FF2B5EF4-FFF2-40B4-BE49-F238E27FC236}">
                    <a16:creationId xmlns:a16="http://schemas.microsoft.com/office/drawing/2014/main" id="{2486F2BE-96CD-4C85-8A54-232217C870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950" y="2686050"/>
                <a:ext cx="1504950" cy="295275"/>
              </a:xfrm>
              <a:prstGeom prst="rect">
                <a:avLst/>
              </a:prstGeom>
              <a:blipFill>
                <a:blip r:embed="rId15"/>
                <a:stretch>
                  <a:fillRect b="-1041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model-feature-card-1">
            <a:extLst>
              <a:ext uri="{FF2B5EF4-FFF2-40B4-BE49-F238E27FC236}">
                <a16:creationId xmlns:a16="http://schemas.microsoft.com/office/drawing/2014/main" id="{50D0E334-FD2E-4A62-9D2B-79B44177D263}"/>
              </a:ext>
            </a:extLst>
          </p:cNvPr>
          <p:cNvSpPr>
            <a:spLocks noGrp="1"/>
          </p:cNvSpPr>
          <p:nvPr/>
        </p:nvSpPr>
        <p:spPr>
          <a:xfrm>
            <a:off x="9791700" y="2057400"/>
            <a:ext cx="1619250" cy="409575"/>
          </a:xfrm>
          <a:prstGeom prst="roundRect">
            <a:avLst>
              <a:gd name="adj" fmla="val 16279"/>
            </a:avLst>
          </a:prstGeom>
          <a:solidFill>
            <a:srgbClr val="F7FAFF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573" name="图片 572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865043" y="2105025"/>
            <a:ext cx="320040" cy="314325"/>
          </a:xfrm>
          <a:prstGeom prst="rect">
            <a:avLst/>
          </a:prstGeom>
        </p:spPr>
      </p:pic>
      <p:sp>
        <p:nvSpPr>
          <p:cNvPr id="177" name="model-feature-label-1">
            <a:extLst>
              <a:ext uri="{FF2B5EF4-FFF2-40B4-BE49-F238E27FC236}">
                <a16:creationId xmlns:a16="http://schemas.microsoft.com/office/drawing/2014/main" id="{19F42E36-8E82-4CC7-9FA6-03FEC6F1E4FE}"/>
              </a:ext>
            </a:extLst>
          </p:cNvPr>
          <p:cNvSpPr>
            <a:spLocks noGrp="1"/>
          </p:cNvSpPr>
          <p:nvPr/>
        </p:nvSpPr>
        <p:spPr>
          <a:xfrm>
            <a:off x="10267950" y="2076450"/>
            <a:ext cx="10763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1" i="0">
                <a:solidFill>
                  <a:srgbClr val="111111"/>
                </a:solidFill>
                <a:cs typeface="Microsoft YaHei"/>
              </a:rPr>
              <a:t>参数不确定性</a:t>
            </a:r>
          </a:p>
        </p:txBody>
      </p:sp>
      <p:sp>
        <p:nvSpPr>
          <p:cNvPr id="178" name="model-feature-card-2">
            <a:extLst>
              <a:ext uri="{FF2B5EF4-FFF2-40B4-BE49-F238E27FC236}">
                <a16:creationId xmlns:a16="http://schemas.microsoft.com/office/drawing/2014/main" id="{AB742BCA-2683-49F9-BF99-C891467B1982}"/>
              </a:ext>
            </a:extLst>
          </p:cNvPr>
          <p:cNvSpPr>
            <a:spLocks noGrp="1"/>
          </p:cNvSpPr>
          <p:nvPr/>
        </p:nvSpPr>
        <p:spPr>
          <a:xfrm>
            <a:off x="9791700" y="2514600"/>
            <a:ext cx="1619250" cy="409575"/>
          </a:xfrm>
          <a:prstGeom prst="roundRect">
            <a:avLst>
              <a:gd name="adj" fmla="val 16279"/>
            </a:avLst>
          </a:prstGeom>
          <a:solidFill>
            <a:srgbClr val="F7FAFF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576" name="图片 57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877723" y="2562225"/>
            <a:ext cx="294680" cy="314325"/>
          </a:xfrm>
          <a:prstGeom prst="rect">
            <a:avLst/>
          </a:prstGeom>
        </p:spPr>
      </p:pic>
      <p:sp>
        <p:nvSpPr>
          <p:cNvPr id="180" name="model-feature-label-2">
            <a:extLst>
              <a:ext uri="{FF2B5EF4-FFF2-40B4-BE49-F238E27FC236}">
                <a16:creationId xmlns:a16="http://schemas.microsoft.com/office/drawing/2014/main" id="{39475F68-979F-49DD-B422-789A290833BE}"/>
              </a:ext>
            </a:extLst>
          </p:cNvPr>
          <p:cNvSpPr>
            <a:spLocks noGrp="1"/>
          </p:cNvSpPr>
          <p:nvPr/>
        </p:nvSpPr>
        <p:spPr>
          <a:xfrm>
            <a:off x="10267950" y="2533650"/>
            <a:ext cx="10763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1" i="0">
                <a:solidFill>
                  <a:srgbClr val="111111"/>
                </a:solidFill>
                <a:cs typeface="Microsoft YaHei"/>
              </a:rPr>
              <a:t>输入时延 τ(k)</a:t>
            </a:r>
          </a:p>
        </p:txBody>
      </p:sp>
      <p:sp>
        <p:nvSpPr>
          <p:cNvPr id="181" name="model-feature-card-3">
            <a:extLst>
              <a:ext uri="{FF2B5EF4-FFF2-40B4-BE49-F238E27FC236}">
                <a16:creationId xmlns:a16="http://schemas.microsoft.com/office/drawing/2014/main" id="{80F96FBA-8792-46E4-9172-3AF7B812B925}"/>
              </a:ext>
            </a:extLst>
          </p:cNvPr>
          <p:cNvSpPr>
            <a:spLocks noGrp="1"/>
          </p:cNvSpPr>
          <p:nvPr/>
        </p:nvSpPr>
        <p:spPr>
          <a:xfrm>
            <a:off x="9791700" y="2971800"/>
            <a:ext cx="1619250" cy="409575"/>
          </a:xfrm>
          <a:prstGeom prst="roundRect">
            <a:avLst>
              <a:gd name="adj" fmla="val 16279"/>
            </a:avLst>
          </a:prstGeom>
          <a:solidFill>
            <a:srgbClr val="F7FAFF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579" name="图片 578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9862386" y="3019425"/>
            <a:ext cx="325354" cy="314325"/>
          </a:xfrm>
          <a:prstGeom prst="rect">
            <a:avLst/>
          </a:prstGeom>
        </p:spPr>
      </p:pic>
      <p:sp>
        <p:nvSpPr>
          <p:cNvPr id="183" name="model-feature-label-3">
            <a:extLst>
              <a:ext uri="{FF2B5EF4-FFF2-40B4-BE49-F238E27FC236}">
                <a16:creationId xmlns:a16="http://schemas.microsoft.com/office/drawing/2014/main" id="{4AD87806-F5B1-4916-AA5F-572E148FCCD6}"/>
              </a:ext>
            </a:extLst>
          </p:cNvPr>
          <p:cNvSpPr>
            <a:spLocks noGrp="1"/>
          </p:cNvSpPr>
          <p:nvPr/>
        </p:nvSpPr>
        <p:spPr>
          <a:xfrm>
            <a:off x="10267950" y="2990850"/>
            <a:ext cx="10763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1" i="0">
                <a:solidFill>
                  <a:srgbClr val="111111"/>
                </a:solidFill>
                <a:cs typeface="Microsoft YaHei"/>
              </a:rPr>
              <a:t>调度命令 α</a:t>
            </a:r>
            <a:r>
              <a:rPr sz="1120" b="1" i="0" baseline="-25000">
                <a:solidFill>
                  <a:srgbClr val="111111"/>
                </a:solidFill>
                <a:cs typeface="Microsoft YaHei"/>
              </a:rPr>
              <a:t>i</a:t>
            </a:r>
            <a:r>
              <a:rPr sz="1120" b="1" i="0">
                <a:solidFill>
                  <a:srgbClr val="111111"/>
                </a:solidFill>
                <a:cs typeface="Microsoft YaHei"/>
              </a:rPr>
              <a:t>(k)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OfficeEq-Switching-Constraint">
                <a:extLst>
                  <a:ext uri="{FF2B5EF4-FFF2-40B4-BE49-F238E27FC236}">
                    <a16:creationId xmlns:a16="http://schemas.microsoft.com/office/drawing/2014/main" id="{BDEFAD4A-5A2F-429A-B728-CF0EA3BF86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15300" y="3457575"/>
                <a:ext cx="3105150" cy="3714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0" rIns="9525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310" b="0" i="1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bPr>
                        <m:e>
                          <m: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𝛼</m:t>
                          </m:r>
                        </m:e>
                        <m:sub>
                          <m: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  <m:r>
                        <a:rPr lang="nn-NO" sz="1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0,1</m:t>
                          </m:r>
                        </m:e>
                      </m:d>
                      <m:r>
                        <a:rPr lang="nn-NO" sz="1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, 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nn-NO" sz="13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</m:ctrlPr>
                            </m:sSubPr>
                            <m:e>
                              <m:r>
                                <a:rPr lang="nn-NO" sz="13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nn-NO" sz="13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nn-NO" sz="13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</m:ctrlPr>
                            </m:dPr>
                            <m:e>
                              <m:r>
                                <a:rPr lang="nn-NO" sz="13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nn-NO" sz="1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=1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4" name="OfficeEq-Switching-Constraint">
                <a:extLst>
                  <a:ext uri="{FF2B5EF4-FFF2-40B4-BE49-F238E27FC236}">
                    <a16:creationId xmlns:a16="http://schemas.microsoft.com/office/drawing/2014/main" id="{BDEFAD4A-5A2F-429A-B728-CF0EA3BF8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300" y="3457575"/>
                <a:ext cx="3105150" cy="371475"/>
              </a:xfrm>
              <a:prstGeom prst="rect">
                <a:avLst/>
              </a:prstGeom>
              <a:blipFill>
                <a:blip r:embed="rId18"/>
                <a:stretch>
                  <a:fillRect t="-204918" r="-1765" b="-28196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sync-horizontal">
            <a:extLst>
              <a:ext uri="{FF2B5EF4-FFF2-40B4-BE49-F238E27FC236}">
                <a16:creationId xmlns:a16="http://schemas.microsoft.com/office/drawing/2014/main" id="{4B3D376C-E1AD-4AB4-80D4-24C6E6F0055D}"/>
              </a:ext>
            </a:extLst>
          </p:cNvPr>
          <p:cNvSpPr>
            <a:spLocks noGrp="1"/>
          </p:cNvSpPr>
          <p:nvPr/>
        </p:nvSpPr>
        <p:spPr>
          <a:xfrm>
            <a:off x="6715125" y="2514600"/>
            <a:ext cx="1028700" cy="247650"/>
          </a:xfrm>
          <a:prstGeom prst="leftRightArrow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186" name="sync-label-top">
            <a:extLst>
              <a:ext uri="{FF2B5EF4-FFF2-40B4-BE49-F238E27FC236}">
                <a16:creationId xmlns:a16="http://schemas.microsoft.com/office/drawing/2014/main" id="{66B48406-22A4-45D2-BC99-2EE6955B31A2}"/>
              </a:ext>
            </a:extLst>
          </p:cNvPr>
          <p:cNvSpPr>
            <a:spLocks noGrp="1"/>
          </p:cNvSpPr>
          <p:nvPr/>
        </p:nvSpPr>
        <p:spPr>
          <a:xfrm>
            <a:off x="6829425" y="2286000"/>
            <a:ext cx="800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i="0">
                <a:solidFill>
                  <a:srgbClr val="0964BE"/>
                </a:solidFill>
                <a:cs typeface="Microsoft YaHei"/>
              </a:rPr>
              <a:t>同步量测</a:t>
            </a:r>
          </a:p>
        </p:txBody>
      </p:sp>
      <p:sp>
        <p:nvSpPr>
          <p:cNvPr id="187" name="sync-label-bottom">
            <a:extLst>
              <a:ext uri="{FF2B5EF4-FFF2-40B4-BE49-F238E27FC236}">
                <a16:creationId xmlns:a16="http://schemas.microsoft.com/office/drawing/2014/main" id="{6F381114-1F70-4E6C-B814-85B829A94ECC}"/>
              </a:ext>
            </a:extLst>
          </p:cNvPr>
          <p:cNvSpPr>
            <a:spLocks noGrp="1"/>
          </p:cNvSpPr>
          <p:nvPr/>
        </p:nvSpPr>
        <p:spPr>
          <a:xfrm>
            <a:off x="6791325" y="2733675"/>
            <a:ext cx="8667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 i="0">
                <a:solidFill>
                  <a:srgbClr val="0964BE"/>
                </a:solidFill>
                <a:cs typeface="Microsoft YaHei"/>
              </a:rPr>
              <a:t>时间戳对齐</a:t>
            </a:r>
          </a:p>
        </p:txBody>
      </p:sp>
      <p:sp>
        <p:nvSpPr>
          <p:cNvPr id="188" name="execution-up">
            <a:extLst>
              <a:ext uri="{FF2B5EF4-FFF2-40B4-BE49-F238E27FC236}">
                <a16:creationId xmlns:a16="http://schemas.microsoft.com/office/drawing/2014/main" id="{E56525E4-AE68-4000-876D-468CD752DAFB}"/>
              </a:ext>
            </a:extLst>
          </p:cNvPr>
          <p:cNvSpPr>
            <a:spLocks noGrp="1"/>
          </p:cNvSpPr>
          <p:nvPr/>
        </p:nvSpPr>
        <p:spPr>
          <a:xfrm>
            <a:off x="4695825" y="4257675"/>
            <a:ext cx="257175" cy="466725"/>
          </a:xfrm>
          <a:prstGeom prst="upArrow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189" name="execution-label-1">
            <a:extLst>
              <a:ext uri="{FF2B5EF4-FFF2-40B4-BE49-F238E27FC236}">
                <a16:creationId xmlns:a16="http://schemas.microsoft.com/office/drawing/2014/main" id="{422CF185-76D7-4B2D-9539-CE28A92DBE0D}"/>
              </a:ext>
            </a:extLst>
          </p:cNvPr>
          <p:cNvSpPr>
            <a:spLocks noGrp="1"/>
          </p:cNvSpPr>
          <p:nvPr/>
        </p:nvSpPr>
        <p:spPr>
          <a:xfrm>
            <a:off x="3733800" y="4295775"/>
            <a:ext cx="962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4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 i="0">
                <a:solidFill>
                  <a:srgbClr val="0964BE"/>
                </a:solidFill>
                <a:cs typeface="Microsoft YaHei"/>
              </a:rPr>
              <a:t>执行与作用</a:t>
            </a:r>
          </a:p>
        </p:txBody>
      </p:sp>
      <p:sp>
        <p:nvSpPr>
          <p:cNvPr id="190" name="execution-label-2">
            <a:extLst>
              <a:ext uri="{FF2B5EF4-FFF2-40B4-BE49-F238E27FC236}">
                <a16:creationId xmlns:a16="http://schemas.microsoft.com/office/drawing/2014/main" id="{B6A10A79-0D07-4BE2-A90C-65537BEEAF91}"/>
              </a:ext>
            </a:extLst>
          </p:cNvPr>
          <p:cNvSpPr>
            <a:spLocks noGrp="1"/>
          </p:cNvSpPr>
          <p:nvPr/>
        </p:nvSpPr>
        <p:spPr>
          <a:xfrm>
            <a:off x="3781425" y="4524375"/>
            <a:ext cx="9144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0" i="1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 i="1">
                <a:solidFill>
                  <a:srgbClr val="0964BE"/>
                </a:solidFill>
                <a:cs typeface="Microsoft YaHei"/>
              </a:rPr>
              <a:t>(Q/V 调节)</a:t>
            </a:r>
          </a:p>
        </p:txBody>
      </p:sp>
      <p:sp>
        <p:nvSpPr>
          <p:cNvPr id="191" name="command-down">
            <a:extLst>
              <a:ext uri="{FF2B5EF4-FFF2-40B4-BE49-F238E27FC236}">
                <a16:creationId xmlns:a16="http://schemas.microsoft.com/office/drawing/2014/main" id="{9E5D7146-766A-4AC4-8E2D-E169AF376851}"/>
              </a:ext>
            </a:extLst>
          </p:cNvPr>
          <p:cNvSpPr>
            <a:spLocks noGrp="1"/>
          </p:cNvSpPr>
          <p:nvPr/>
        </p:nvSpPr>
        <p:spPr>
          <a:xfrm>
            <a:off x="9496425" y="3924300"/>
            <a:ext cx="257175" cy="695325"/>
          </a:xfrm>
          <a:prstGeom prst="downArrow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192" name="command-label">
            <a:extLst>
              <a:ext uri="{FF2B5EF4-FFF2-40B4-BE49-F238E27FC236}">
                <a16:creationId xmlns:a16="http://schemas.microsoft.com/office/drawing/2014/main" id="{F81A0ECC-75D7-4BDC-9A0E-50B79BABAD35}"/>
              </a:ext>
            </a:extLst>
          </p:cNvPr>
          <p:cNvSpPr>
            <a:spLocks noGrp="1"/>
          </p:cNvSpPr>
          <p:nvPr/>
        </p:nvSpPr>
        <p:spPr>
          <a:xfrm>
            <a:off x="9744075" y="4105275"/>
            <a:ext cx="838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 i="0">
                <a:solidFill>
                  <a:srgbClr val="0964BE"/>
                </a:solidFill>
                <a:cs typeface="Microsoft YaHei"/>
              </a:rPr>
              <a:t>控制指令</a:t>
            </a:r>
          </a:p>
        </p:txBody>
      </p:sp>
      <p:sp>
        <p:nvSpPr>
          <p:cNvPr id="193" name="coord-cycle-ring">
            <a:extLst>
              <a:ext uri="{FF2B5EF4-FFF2-40B4-BE49-F238E27FC236}">
                <a16:creationId xmlns:a16="http://schemas.microsoft.com/office/drawing/2014/main" id="{2426F053-1F03-47C4-A20A-F2EAD00398EA}"/>
              </a:ext>
            </a:extLst>
          </p:cNvPr>
          <p:cNvSpPr>
            <a:spLocks noGrp="1"/>
          </p:cNvSpPr>
          <p:nvPr/>
        </p:nvSpPr>
        <p:spPr>
          <a:xfrm>
            <a:off x="6572250" y="3819525"/>
            <a:ext cx="1666875" cy="1743075"/>
          </a:xfrm>
          <a:prstGeom prst="ellipse">
            <a:avLst/>
          </a:prstGeom>
          <a:noFill/>
          <a:ln w="76200">
            <a:solidFill>
              <a:srgbClr val="0964BE"/>
            </a:solidFill>
            <a:prstDash val="solid"/>
          </a:ln>
        </p:spPr>
      </p:sp>
      <p:sp>
        <p:nvSpPr>
          <p:cNvPr id="194" name="coord-cycle-gap-1">
            <a:extLst>
              <a:ext uri="{FF2B5EF4-FFF2-40B4-BE49-F238E27FC236}">
                <a16:creationId xmlns:a16="http://schemas.microsoft.com/office/drawing/2014/main" id="{F83FC2D6-6E47-4F37-B569-0A0E0ABD0334}"/>
              </a:ext>
            </a:extLst>
          </p:cNvPr>
          <p:cNvSpPr>
            <a:spLocks noGrp="1"/>
          </p:cNvSpPr>
          <p:nvPr/>
        </p:nvSpPr>
        <p:spPr>
          <a:xfrm>
            <a:off x="7505700" y="3781425"/>
            <a:ext cx="219075" cy="171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5" name="coord-cycle-gap-2">
            <a:extLst>
              <a:ext uri="{FF2B5EF4-FFF2-40B4-BE49-F238E27FC236}">
                <a16:creationId xmlns:a16="http://schemas.microsoft.com/office/drawing/2014/main" id="{1CBEE66A-35CE-4E21-AEA5-91314FF62284}"/>
              </a:ext>
            </a:extLst>
          </p:cNvPr>
          <p:cNvSpPr>
            <a:spLocks noGrp="1"/>
          </p:cNvSpPr>
          <p:nvPr/>
        </p:nvSpPr>
        <p:spPr>
          <a:xfrm>
            <a:off x="8067675" y="4629150"/>
            <a:ext cx="1714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6" name="coord-cycle-gap-3">
            <a:extLst>
              <a:ext uri="{FF2B5EF4-FFF2-40B4-BE49-F238E27FC236}">
                <a16:creationId xmlns:a16="http://schemas.microsoft.com/office/drawing/2014/main" id="{2B14E777-9E7A-49FE-8EAF-90B1165631E3}"/>
              </a:ext>
            </a:extLst>
          </p:cNvPr>
          <p:cNvSpPr>
            <a:spLocks noGrp="1"/>
          </p:cNvSpPr>
          <p:nvPr/>
        </p:nvSpPr>
        <p:spPr>
          <a:xfrm>
            <a:off x="7086600" y="5391150"/>
            <a:ext cx="219075" cy="1714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7" name="coord-cycle-gap-4">
            <a:extLst>
              <a:ext uri="{FF2B5EF4-FFF2-40B4-BE49-F238E27FC236}">
                <a16:creationId xmlns:a16="http://schemas.microsoft.com/office/drawing/2014/main" id="{460CEC59-E3AB-4FA8-9FF7-134A91419CD3}"/>
              </a:ext>
            </a:extLst>
          </p:cNvPr>
          <p:cNvSpPr>
            <a:spLocks noGrp="1"/>
          </p:cNvSpPr>
          <p:nvPr/>
        </p:nvSpPr>
        <p:spPr>
          <a:xfrm>
            <a:off x="6524625" y="4524375"/>
            <a:ext cx="1714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8" name="coord-arrow-top">
            <a:extLst>
              <a:ext uri="{FF2B5EF4-FFF2-40B4-BE49-F238E27FC236}">
                <a16:creationId xmlns:a16="http://schemas.microsoft.com/office/drawing/2014/main" id="{3BB6C7DE-0A4F-4B41-9A9E-1561BAC6B539}"/>
              </a:ext>
            </a:extLst>
          </p:cNvPr>
          <p:cNvSpPr>
            <a:spLocks noGrp="1"/>
          </p:cNvSpPr>
          <p:nvPr/>
        </p:nvSpPr>
        <p:spPr>
          <a:xfrm rot="5400000">
            <a:off x="7496175" y="3762375"/>
            <a:ext cx="238125" cy="209550"/>
          </a:xfrm>
          <a:prstGeom prst="triangle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199" name="coord-arrow-right">
            <a:extLst>
              <a:ext uri="{FF2B5EF4-FFF2-40B4-BE49-F238E27FC236}">
                <a16:creationId xmlns:a16="http://schemas.microsoft.com/office/drawing/2014/main" id="{FFAA2A31-1E31-4EEB-BD20-3C016B0C1D89}"/>
              </a:ext>
            </a:extLst>
          </p:cNvPr>
          <p:cNvSpPr>
            <a:spLocks noGrp="1"/>
          </p:cNvSpPr>
          <p:nvPr/>
        </p:nvSpPr>
        <p:spPr>
          <a:xfrm rot="10800000">
            <a:off x="8058150" y="4619625"/>
            <a:ext cx="209550" cy="238125"/>
          </a:xfrm>
          <a:prstGeom prst="triangle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200" name="coord-arrow-bottom">
            <a:extLst>
              <a:ext uri="{FF2B5EF4-FFF2-40B4-BE49-F238E27FC236}">
                <a16:creationId xmlns:a16="http://schemas.microsoft.com/office/drawing/2014/main" id="{6682FDB1-5347-4A22-AA29-D145962ED74B}"/>
              </a:ext>
            </a:extLst>
          </p:cNvPr>
          <p:cNvSpPr>
            <a:spLocks noGrp="1"/>
          </p:cNvSpPr>
          <p:nvPr/>
        </p:nvSpPr>
        <p:spPr>
          <a:xfrm rot="16200000">
            <a:off x="7067550" y="5372100"/>
            <a:ext cx="238125" cy="209550"/>
          </a:xfrm>
          <a:prstGeom prst="triangle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201" name="coord-arrow-left">
            <a:extLst>
              <a:ext uri="{FF2B5EF4-FFF2-40B4-BE49-F238E27FC236}">
                <a16:creationId xmlns:a16="http://schemas.microsoft.com/office/drawing/2014/main" id="{FEA7EB33-9BF8-42A0-A491-50F65B9F60C5}"/>
              </a:ext>
            </a:extLst>
          </p:cNvPr>
          <p:cNvSpPr>
            <a:spLocks noGrp="1"/>
          </p:cNvSpPr>
          <p:nvPr/>
        </p:nvSpPr>
        <p:spPr>
          <a:xfrm>
            <a:off x="6505575" y="4505325"/>
            <a:ext cx="209550" cy="238125"/>
          </a:xfrm>
          <a:prstGeom prst="triangle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pic>
        <p:nvPicPr>
          <p:cNvPr id="599" name="图片 598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838950" y="4211251"/>
            <a:ext cx="1104900" cy="607197"/>
          </a:xfrm>
          <a:prstGeom prst="rect">
            <a:avLst/>
          </a:prstGeom>
        </p:spPr>
      </p:pic>
      <p:sp>
        <p:nvSpPr>
          <p:cNvPr id="203" name="coord-label-pill">
            <a:extLst>
              <a:ext uri="{FF2B5EF4-FFF2-40B4-BE49-F238E27FC236}">
                <a16:creationId xmlns:a16="http://schemas.microsoft.com/office/drawing/2014/main" id="{0E2E626F-86CE-49EC-8081-90D5B05DD132}"/>
              </a:ext>
            </a:extLst>
          </p:cNvPr>
          <p:cNvSpPr>
            <a:spLocks noGrp="1"/>
          </p:cNvSpPr>
          <p:nvPr/>
        </p:nvSpPr>
        <p:spPr>
          <a:xfrm>
            <a:off x="6819900" y="4743450"/>
            <a:ext cx="1152525" cy="371475"/>
          </a:xfrm>
          <a:prstGeom prst="roundRect">
            <a:avLst>
              <a:gd name="adj" fmla="val 17949"/>
            </a:avLst>
          </a:prstGeom>
          <a:solidFill>
            <a:srgbClr val="0964BE"/>
          </a:solidFill>
          <a:ln w="9525">
            <a:solidFill>
              <a:srgbClr val="0964BE"/>
            </a:solidFill>
            <a:prstDash val="solid"/>
          </a:ln>
        </p:spPr>
      </p:sp>
      <p:sp>
        <p:nvSpPr>
          <p:cNvPr id="204" name="coord-label-front">
            <a:extLst>
              <a:ext uri="{FF2B5EF4-FFF2-40B4-BE49-F238E27FC236}">
                <a16:creationId xmlns:a16="http://schemas.microsoft.com/office/drawing/2014/main" id="{D7CE3169-D57C-4592-9F24-3D66C69A6731}"/>
              </a:ext>
            </a:extLst>
          </p:cNvPr>
          <p:cNvSpPr>
            <a:spLocks noGrp="1"/>
          </p:cNvSpPr>
          <p:nvPr/>
        </p:nvSpPr>
        <p:spPr>
          <a:xfrm>
            <a:off x="6819900" y="4752975"/>
            <a:ext cx="11525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0" b="1" i="0">
                <a:solidFill>
                  <a:srgbClr val="FFFFFF"/>
                </a:solidFill>
                <a:cs typeface="Microsoft YaHei"/>
              </a:rPr>
              <a:t>协同设计</a:t>
            </a:r>
          </a:p>
        </p:txBody>
      </p:sp>
      <p:sp>
        <p:nvSpPr>
          <p:cNvPr id="205" name="scheduler-card">
            <a:extLst>
              <a:ext uri="{FF2B5EF4-FFF2-40B4-BE49-F238E27FC236}">
                <a16:creationId xmlns:a16="http://schemas.microsoft.com/office/drawing/2014/main" id="{06CDEB60-8296-455C-B98F-9B89D68CC596}"/>
              </a:ext>
            </a:extLst>
          </p:cNvPr>
          <p:cNvSpPr>
            <a:spLocks noGrp="1"/>
          </p:cNvSpPr>
          <p:nvPr/>
        </p:nvSpPr>
        <p:spPr>
          <a:xfrm>
            <a:off x="3505200" y="4724400"/>
            <a:ext cx="3086100" cy="2552700"/>
          </a:xfrm>
          <a:prstGeom prst="roundRect">
            <a:avLst>
              <a:gd name="adj" fmla="val 3731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sp>
        <p:nvSpPr>
          <p:cNvPr id="206" name="scheduler-title-fill">
            <a:extLst>
              <a:ext uri="{FF2B5EF4-FFF2-40B4-BE49-F238E27FC236}">
                <a16:creationId xmlns:a16="http://schemas.microsoft.com/office/drawing/2014/main" id="{4D18A0D6-0C07-4300-B719-CB92BEA89BE5}"/>
              </a:ext>
            </a:extLst>
          </p:cNvPr>
          <p:cNvSpPr>
            <a:spLocks noGrp="1"/>
          </p:cNvSpPr>
          <p:nvPr/>
        </p:nvSpPr>
        <p:spPr>
          <a:xfrm>
            <a:off x="3514725" y="4733925"/>
            <a:ext cx="3067050" cy="352425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207" name="scheduler-title">
            <a:extLst>
              <a:ext uri="{FF2B5EF4-FFF2-40B4-BE49-F238E27FC236}">
                <a16:creationId xmlns:a16="http://schemas.microsoft.com/office/drawing/2014/main" id="{FAB0F8AA-71B4-40A2-847A-3CEAB04785D1}"/>
              </a:ext>
            </a:extLst>
          </p:cNvPr>
          <p:cNvSpPr>
            <a:spLocks noGrp="1"/>
          </p:cNvSpPr>
          <p:nvPr/>
        </p:nvSpPr>
        <p:spPr>
          <a:xfrm>
            <a:off x="4229100" y="47625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8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80" b="1" i="0">
                <a:solidFill>
                  <a:srgbClr val="06265F"/>
                </a:solidFill>
                <a:cs typeface="Microsoft YaHei"/>
              </a:rPr>
              <a:t>最优信道调度器</a:t>
            </a:r>
          </a:p>
        </p:txBody>
      </p:sp>
      <p:pic>
        <p:nvPicPr>
          <p:cNvPr id="605" name="图片 6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610878" y="5067300"/>
            <a:ext cx="360144" cy="409575"/>
          </a:xfrm>
          <a:prstGeom prst="rect">
            <a:avLst/>
          </a:prstGeom>
        </p:spPr>
      </p:pic>
      <p:sp>
        <p:nvSpPr>
          <p:cNvPr id="209" name="scheduler-dg-label-1">
            <a:extLst>
              <a:ext uri="{FF2B5EF4-FFF2-40B4-BE49-F238E27FC236}">
                <a16:creationId xmlns:a16="http://schemas.microsoft.com/office/drawing/2014/main" id="{8CE607DF-6D20-407E-8958-634A5FE8613C}"/>
              </a:ext>
            </a:extLst>
          </p:cNvPr>
          <p:cNvSpPr>
            <a:spLocks noGrp="1"/>
          </p:cNvSpPr>
          <p:nvPr/>
        </p:nvSpPr>
        <p:spPr>
          <a:xfrm>
            <a:off x="4010025" y="5067300"/>
            <a:ext cx="4953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2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DG1</a:t>
            </a:r>
          </a:p>
          <a:p>
            <a:pPr algn="l">
              <a:lnSpc>
                <a:spcPct val="105000"/>
              </a:lnSpc>
              <a:buNone/>
              <a:defRPr sz="102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指令</a:t>
            </a:r>
          </a:p>
        </p:txBody>
      </p:sp>
      <p:pic>
        <p:nvPicPr>
          <p:cNvPr id="607" name="图片 60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610878" y="5648325"/>
            <a:ext cx="360144" cy="409575"/>
          </a:xfrm>
          <a:prstGeom prst="rect">
            <a:avLst/>
          </a:prstGeom>
        </p:spPr>
      </p:pic>
      <p:sp>
        <p:nvSpPr>
          <p:cNvPr id="211" name="scheduler-dg-label-2">
            <a:extLst>
              <a:ext uri="{FF2B5EF4-FFF2-40B4-BE49-F238E27FC236}">
                <a16:creationId xmlns:a16="http://schemas.microsoft.com/office/drawing/2014/main" id="{75EAD63D-4917-4049-A2D7-26A3EB43A370}"/>
              </a:ext>
            </a:extLst>
          </p:cNvPr>
          <p:cNvSpPr>
            <a:spLocks noGrp="1"/>
          </p:cNvSpPr>
          <p:nvPr/>
        </p:nvSpPr>
        <p:spPr>
          <a:xfrm>
            <a:off x="4010025" y="5648325"/>
            <a:ext cx="4953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2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DG2</a:t>
            </a:r>
          </a:p>
          <a:p>
            <a:pPr algn="l">
              <a:lnSpc>
                <a:spcPct val="105000"/>
              </a:lnSpc>
              <a:buNone/>
              <a:defRPr sz="102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指令</a:t>
            </a:r>
          </a:p>
        </p:txBody>
      </p:sp>
      <p:pic>
        <p:nvPicPr>
          <p:cNvPr id="609" name="图片 60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610878" y="6229350"/>
            <a:ext cx="360144" cy="409575"/>
          </a:xfrm>
          <a:prstGeom prst="rect">
            <a:avLst/>
          </a:prstGeom>
        </p:spPr>
      </p:pic>
      <p:sp>
        <p:nvSpPr>
          <p:cNvPr id="213" name="scheduler-dg-label-3">
            <a:extLst>
              <a:ext uri="{FF2B5EF4-FFF2-40B4-BE49-F238E27FC236}">
                <a16:creationId xmlns:a16="http://schemas.microsoft.com/office/drawing/2014/main" id="{EB56C307-B6A9-4020-9003-95F30E96CF20}"/>
              </a:ext>
            </a:extLst>
          </p:cNvPr>
          <p:cNvSpPr>
            <a:spLocks noGrp="1"/>
          </p:cNvSpPr>
          <p:nvPr/>
        </p:nvSpPr>
        <p:spPr>
          <a:xfrm>
            <a:off x="4010025" y="6229350"/>
            <a:ext cx="4953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02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DG3</a:t>
            </a:r>
          </a:p>
          <a:p>
            <a:pPr algn="l">
              <a:lnSpc>
                <a:spcPct val="105000"/>
              </a:lnSpc>
              <a:buNone/>
              <a:defRPr sz="102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指令</a:t>
            </a:r>
          </a:p>
        </p:txBody>
      </p:sp>
      <p:sp>
        <p:nvSpPr>
          <p:cNvPr id="214" name="scheduler-select-1-from-anchor-51">
            <a:extLst>
              <a:ext uri="{FF2B5EF4-FFF2-40B4-BE49-F238E27FC236}">
                <a16:creationId xmlns:a16="http://schemas.microsoft.com/office/drawing/2014/main" id="{6E3D9AD7-5F95-4C36-B94A-4AED3D915A4B}"/>
              </a:ext>
            </a:extLst>
          </p:cNvPr>
          <p:cNvSpPr>
            <a:spLocks noGrp="1"/>
          </p:cNvSpPr>
          <p:nvPr/>
        </p:nvSpPr>
        <p:spPr>
          <a:xfrm>
            <a:off x="4235768" y="52549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15" name="scheduler-select-1-to-anchor-52">
            <a:extLst>
              <a:ext uri="{FF2B5EF4-FFF2-40B4-BE49-F238E27FC236}">
                <a16:creationId xmlns:a16="http://schemas.microsoft.com/office/drawing/2014/main" id="{73A967ED-2CC6-45A0-975A-E301F9DC0B72}"/>
              </a:ext>
            </a:extLst>
          </p:cNvPr>
          <p:cNvSpPr>
            <a:spLocks noGrp="1"/>
          </p:cNvSpPr>
          <p:nvPr/>
        </p:nvSpPr>
        <p:spPr>
          <a:xfrm>
            <a:off x="4759643" y="52835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13" name="scheduler-select-1"/>
          <p:cNvCxnSpPr>
            <a:stCxn id="214" idx="6"/>
            <a:endCxn id="215" idx="2"/>
          </p:cNvCxnSpPr>
          <p:nvPr/>
        </p:nvCxnSpPr>
        <p:spPr>
          <a:xfrm>
            <a:off x="4241483" y="5257800"/>
            <a:ext cx="518160" cy="28575"/>
          </a:xfrm>
          <a:prstGeom prst="straightConnector1">
            <a:avLst/>
          </a:prstGeom>
          <a:ln w="11906" cap="rnd">
            <a:solidFill>
              <a:srgbClr val="07672D"/>
            </a:solidFill>
            <a:prstDash val="dash"/>
            <a:round/>
            <a:tailEnd type="triangle" w="sm" len="sm"/>
          </a:ln>
        </p:spPr>
      </p:cxnSp>
      <p:sp>
        <p:nvSpPr>
          <p:cNvPr id="217" name="scheduler-select-2-from-anchor-53">
            <a:extLst>
              <a:ext uri="{FF2B5EF4-FFF2-40B4-BE49-F238E27FC236}">
                <a16:creationId xmlns:a16="http://schemas.microsoft.com/office/drawing/2014/main" id="{82C7F31D-6B7C-4142-90B6-89AE03FF19EA}"/>
              </a:ext>
            </a:extLst>
          </p:cNvPr>
          <p:cNvSpPr>
            <a:spLocks noGrp="1"/>
          </p:cNvSpPr>
          <p:nvPr/>
        </p:nvSpPr>
        <p:spPr>
          <a:xfrm>
            <a:off x="4235768" y="58359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18" name="scheduler-select-2-to-anchor-54">
            <a:extLst>
              <a:ext uri="{FF2B5EF4-FFF2-40B4-BE49-F238E27FC236}">
                <a16:creationId xmlns:a16="http://schemas.microsoft.com/office/drawing/2014/main" id="{8A580199-DDFC-473E-B5B2-40F78FF4922F}"/>
              </a:ext>
            </a:extLst>
          </p:cNvPr>
          <p:cNvSpPr>
            <a:spLocks noGrp="1"/>
          </p:cNvSpPr>
          <p:nvPr/>
        </p:nvSpPr>
        <p:spPr>
          <a:xfrm>
            <a:off x="4759643" y="58550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16" name="scheduler-select-2"/>
          <p:cNvCxnSpPr>
            <a:stCxn id="217" idx="6"/>
            <a:endCxn id="218" idx="2"/>
          </p:cNvCxnSpPr>
          <p:nvPr/>
        </p:nvCxnSpPr>
        <p:spPr>
          <a:xfrm>
            <a:off x="4241483" y="5838825"/>
            <a:ext cx="518160" cy="19050"/>
          </a:xfrm>
          <a:prstGeom prst="straightConnector1">
            <a:avLst/>
          </a:prstGeom>
          <a:ln w="11906" cap="rnd">
            <a:solidFill>
              <a:srgbClr val="07672D"/>
            </a:solidFill>
            <a:prstDash val="dash"/>
            <a:round/>
            <a:tailEnd type="triangle" w="sm" len="sm"/>
          </a:ln>
        </p:spPr>
      </p:cxnSp>
      <p:sp>
        <p:nvSpPr>
          <p:cNvPr id="220" name="scheduler-select-3-from-anchor-55">
            <a:extLst>
              <a:ext uri="{FF2B5EF4-FFF2-40B4-BE49-F238E27FC236}">
                <a16:creationId xmlns:a16="http://schemas.microsoft.com/office/drawing/2014/main" id="{A9B616E1-81A1-4961-9320-9DB1805E3B4D}"/>
              </a:ext>
            </a:extLst>
          </p:cNvPr>
          <p:cNvSpPr>
            <a:spLocks noGrp="1"/>
          </p:cNvSpPr>
          <p:nvPr/>
        </p:nvSpPr>
        <p:spPr>
          <a:xfrm>
            <a:off x="4235768" y="64169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1" name="scheduler-select-3-to-anchor-56">
            <a:extLst>
              <a:ext uri="{FF2B5EF4-FFF2-40B4-BE49-F238E27FC236}">
                <a16:creationId xmlns:a16="http://schemas.microsoft.com/office/drawing/2014/main" id="{A533DE31-4D2C-44A6-BE6C-8114B99A6AC6}"/>
              </a:ext>
            </a:extLst>
          </p:cNvPr>
          <p:cNvSpPr>
            <a:spLocks noGrp="1"/>
          </p:cNvSpPr>
          <p:nvPr/>
        </p:nvSpPr>
        <p:spPr>
          <a:xfrm>
            <a:off x="4759643" y="64265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19" name="scheduler-select-3"/>
          <p:cNvCxnSpPr>
            <a:stCxn id="220" idx="6"/>
            <a:endCxn id="221" idx="2"/>
          </p:cNvCxnSpPr>
          <p:nvPr/>
        </p:nvCxnSpPr>
        <p:spPr>
          <a:xfrm>
            <a:off x="4241483" y="6419850"/>
            <a:ext cx="518160" cy="9525"/>
          </a:xfrm>
          <a:prstGeom prst="straightConnector1">
            <a:avLst/>
          </a:prstGeom>
          <a:ln w="11906" cap="rnd">
            <a:solidFill>
              <a:srgbClr val="07672D"/>
            </a:solidFill>
            <a:prstDash val="dash"/>
            <a:round/>
            <a:tailEnd type="triangle" w="sm" len="sm"/>
          </a:ln>
        </p:spPr>
      </p:cxnSp>
      <p:pic>
        <p:nvPicPr>
          <p:cNvPr id="620" name="图片 61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839891" y="5124450"/>
            <a:ext cx="321469" cy="342900"/>
          </a:xfrm>
          <a:prstGeom prst="rect">
            <a:avLst/>
          </a:prstGeom>
        </p:spPr>
      </p:pic>
      <p:pic>
        <p:nvPicPr>
          <p:cNvPr id="621" name="图片 620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125766" y="5124450"/>
            <a:ext cx="321469" cy="342900"/>
          </a:xfrm>
          <a:prstGeom prst="rect">
            <a:avLst/>
          </a:prstGeom>
        </p:spPr>
      </p:pic>
      <p:sp>
        <p:nvSpPr>
          <p:cNvPr id="225" name="scheduler-channel-1-from-anchor-57">
            <a:extLst>
              <a:ext uri="{FF2B5EF4-FFF2-40B4-BE49-F238E27FC236}">
                <a16:creationId xmlns:a16="http://schemas.microsoft.com/office/drawing/2014/main" id="{DC7436F6-8863-42EF-9FA6-F5BA2AA254DB}"/>
              </a:ext>
            </a:extLst>
          </p:cNvPr>
          <p:cNvSpPr>
            <a:spLocks noGrp="1"/>
          </p:cNvSpPr>
          <p:nvPr/>
        </p:nvSpPr>
        <p:spPr>
          <a:xfrm>
            <a:off x="5197793" y="52835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6" name="scheduler-channel-1-to-anchor-58">
            <a:extLst>
              <a:ext uri="{FF2B5EF4-FFF2-40B4-BE49-F238E27FC236}">
                <a16:creationId xmlns:a16="http://schemas.microsoft.com/office/drawing/2014/main" id="{BC748F2B-E5F0-4B24-8875-69839DABD1E3}"/>
              </a:ext>
            </a:extLst>
          </p:cNvPr>
          <p:cNvSpPr>
            <a:spLocks noGrp="1"/>
          </p:cNvSpPr>
          <p:nvPr/>
        </p:nvSpPr>
        <p:spPr>
          <a:xfrm>
            <a:off x="6083618" y="52835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24" name="scheduler-channel-1"/>
          <p:cNvCxnSpPr>
            <a:stCxn id="225" idx="6"/>
            <a:endCxn id="226" idx="2"/>
          </p:cNvCxnSpPr>
          <p:nvPr/>
        </p:nvCxnSpPr>
        <p:spPr>
          <a:xfrm>
            <a:off x="5203508" y="5286375"/>
            <a:ext cx="880110" cy="0"/>
          </a:xfrm>
          <a:prstGeom prst="straightConnector1">
            <a:avLst/>
          </a:prstGeom>
          <a:ln w="13811" cap="rnd">
            <a:solidFill>
              <a:srgbClr val="07672D"/>
            </a:solidFill>
            <a:prstDash val="dash"/>
            <a:round/>
            <a:tailEnd type="triangle" w="sm" len="sm"/>
          </a:ln>
        </p:spPr>
      </p:cxnSp>
      <p:sp>
        <p:nvSpPr>
          <p:cNvPr id="228" name="scheduler-channel-label-1">
            <a:extLst>
              <a:ext uri="{FF2B5EF4-FFF2-40B4-BE49-F238E27FC236}">
                <a16:creationId xmlns:a16="http://schemas.microsoft.com/office/drawing/2014/main" id="{71C89DE6-4AE7-46B4-80C2-F26434E0729C}"/>
              </a:ext>
            </a:extLst>
          </p:cNvPr>
          <p:cNvSpPr>
            <a:spLocks noGrp="1"/>
          </p:cNvSpPr>
          <p:nvPr/>
        </p:nvSpPr>
        <p:spPr>
          <a:xfrm>
            <a:off x="5210175" y="5067300"/>
            <a:ext cx="876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0" b="1" i="0">
                <a:solidFill>
                  <a:srgbClr val="07672D"/>
                </a:solidFill>
                <a:cs typeface="Microsoft YaHei"/>
              </a:rPr>
              <a:t>20 ms 信道</a:t>
            </a:r>
          </a:p>
        </p:txBody>
      </p:sp>
      <p:pic>
        <p:nvPicPr>
          <p:cNvPr id="626" name="图片 6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839891" y="5695950"/>
            <a:ext cx="321469" cy="342900"/>
          </a:xfrm>
          <a:prstGeom prst="rect">
            <a:avLst/>
          </a:prstGeom>
        </p:spPr>
      </p:pic>
      <p:pic>
        <p:nvPicPr>
          <p:cNvPr id="627" name="图片 62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125766" y="5695950"/>
            <a:ext cx="321469" cy="342900"/>
          </a:xfrm>
          <a:prstGeom prst="rect">
            <a:avLst/>
          </a:prstGeom>
        </p:spPr>
      </p:pic>
      <p:sp>
        <p:nvSpPr>
          <p:cNvPr id="231" name="scheduler-channel-2-from-anchor-59">
            <a:extLst>
              <a:ext uri="{FF2B5EF4-FFF2-40B4-BE49-F238E27FC236}">
                <a16:creationId xmlns:a16="http://schemas.microsoft.com/office/drawing/2014/main" id="{4CD43C53-F7F6-4166-83AA-6A6156FF1E48}"/>
              </a:ext>
            </a:extLst>
          </p:cNvPr>
          <p:cNvSpPr>
            <a:spLocks noGrp="1"/>
          </p:cNvSpPr>
          <p:nvPr/>
        </p:nvSpPr>
        <p:spPr>
          <a:xfrm>
            <a:off x="5197793" y="58550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32" name="scheduler-channel-2-to-anchor-60">
            <a:extLst>
              <a:ext uri="{FF2B5EF4-FFF2-40B4-BE49-F238E27FC236}">
                <a16:creationId xmlns:a16="http://schemas.microsoft.com/office/drawing/2014/main" id="{7195BB32-88F3-456C-90F8-410A2F61C604}"/>
              </a:ext>
            </a:extLst>
          </p:cNvPr>
          <p:cNvSpPr>
            <a:spLocks noGrp="1"/>
          </p:cNvSpPr>
          <p:nvPr/>
        </p:nvSpPr>
        <p:spPr>
          <a:xfrm>
            <a:off x="6083618" y="58550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30" name="scheduler-channel-2"/>
          <p:cNvCxnSpPr>
            <a:stCxn id="231" idx="6"/>
            <a:endCxn id="232" idx="2"/>
          </p:cNvCxnSpPr>
          <p:nvPr/>
        </p:nvCxnSpPr>
        <p:spPr>
          <a:xfrm>
            <a:off x="5203508" y="5857875"/>
            <a:ext cx="880110" cy="0"/>
          </a:xfrm>
          <a:prstGeom prst="straightConnector1">
            <a:avLst/>
          </a:prstGeom>
          <a:ln w="13811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234" name="scheduler-channel-label-2">
            <a:extLst>
              <a:ext uri="{FF2B5EF4-FFF2-40B4-BE49-F238E27FC236}">
                <a16:creationId xmlns:a16="http://schemas.microsoft.com/office/drawing/2014/main" id="{AD9FCFDF-C13E-447E-A18B-163187486488}"/>
              </a:ext>
            </a:extLst>
          </p:cNvPr>
          <p:cNvSpPr>
            <a:spLocks noGrp="1"/>
          </p:cNvSpPr>
          <p:nvPr/>
        </p:nvSpPr>
        <p:spPr>
          <a:xfrm>
            <a:off x="5210175" y="5638800"/>
            <a:ext cx="876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0" b="1" i="0">
                <a:solidFill>
                  <a:srgbClr val="0964BE"/>
                </a:solidFill>
                <a:cs typeface="Microsoft YaHei"/>
              </a:rPr>
              <a:t>80 ms 信道</a:t>
            </a:r>
          </a:p>
        </p:txBody>
      </p:sp>
      <p:pic>
        <p:nvPicPr>
          <p:cNvPr id="632" name="图片 631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839891" y="6267450"/>
            <a:ext cx="321469" cy="342900"/>
          </a:xfrm>
          <a:prstGeom prst="rect">
            <a:avLst/>
          </a:prstGeom>
        </p:spPr>
      </p:pic>
      <p:pic>
        <p:nvPicPr>
          <p:cNvPr id="633" name="图片 632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125766" y="6267450"/>
            <a:ext cx="321469" cy="342900"/>
          </a:xfrm>
          <a:prstGeom prst="rect">
            <a:avLst/>
          </a:prstGeom>
        </p:spPr>
      </p:pic>
      <p:sp>
        <p:nvSpPr>
          <p:cNvPr id="237" name="scheduler-channel-3-from-anchor-61">
            <a:extLst>
              <a:ext uri="{FF2B5EF4-FFF2-40B4-BE49-F238E27FC236}">
                <a16:creationId xmlns:a16="http://schemas.microsoft.com/office/drawing/2014/main" id="{18A12FFC-D0CF-4FE2-A557-55DF8B7C6269}"/>
              </a:ext>
            </a:extLst>
          </p:cNvPr>
          <p:cNvSpPr>
            <a:spLocks noGrp="1"/>
          </p:cNvSpPr>
          <p:nvPr/>
        </p:nvSpPr>
        <p:spPr>
          <a:xfrm>
            <a:off x="5197793" y="64265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38" name="scheduler-channel-3-to-anchor-62">
            <a:extLst>
              <a:ext uri="{FF2B5EF4-FFF2-40B4-BE49-F238E27FC236}">
                <a16:creationId xmlns:a16="http://schemas.microsoft.com/office/drawing/2014/main" id="{2E0FD797-5627-4A77-A288-A6E7877E0E7D}"/>
              </a:ext>
            </a:extLst>
          </p:cNvPr>
          <p:cNvSpPr>
            <a:spLocks noGrp="1"/>
          </p:cNvSpPr>
          <p:nvPr/>
        </p:nvSpPr>
        <p:spPr>
          <a:xfrm>
            <a:off x="6083618" y="64265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36" name="scheduler-channel-3"/>
          <p:cNvCxnSpPr>
            <a:stCxn id="237" idx="6"/>
            <a:endCxn id="238" idx="2"/>
          </p:cNvCxnSpPr>
          <p:nvPr/>
        </p:nvCxnSpPr>
        <p:spPr>
          <a:xfrm>
            <a:off x="5203508" y="6429375"/>
            <a:ext cx="880110" cy="0"/>
          </a:xfrm>
          <a:prstGeom prst="straightConnector1">
            <a:avLst/>
          </a:prstGeom>
          <a:ln w="13811" cap="rnd">
            <a:solidFill>
              <a:srgbClr val="5B28B3"/>
            </a:solidFill>
            <a:prstDash val="dash"/>
            <a:round/>
            <a:tailEnd type="triangle" w="sm" len="sm"/>
          </a:ln>
        </p:spPr>
      </p:cxnSp>
      <p:sp>
        <p:nvSpPr>
          <p:cNvPr id="240" name="scheduler-channel-label-3">
            <a:extLst>
              <a:ext uri="{FF2B5EF4-FFF2-40B4-BE49-F238E27FC236}">
                <a16:creationId xmlns:a16="http://schemas.microsoft.com/office/drawing/2014/main" id="{6A126C82-BAFC-4BE5-BCB0-6311342F046C}"/>
              </a:ext>
            </a:extLst>
          </p:cNvPr>
          <p:cNvSpPr>
            <a:spLocks noGrp="1"/>
          </p:cNvSpPr>
          <p:nvPr/>
        </p:nvSpPr>
        <p:spPr>
          <a:xfrm>
            <a:off x="5210175" y="6210300"/>
            <a:ext cx="876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0" b="1" i="0">
                <a:solidFill>
                  <a:srgbClr val="5B28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0" b="1" i="0">
                <a:solidFill>
                  <a:srgbClr val="5B28B3"/>
                </a:solidFill>
                <a:cs typeface="Microsoft YaHei"/>
              </a:rPr>
              <a:t>140 ms 信道</a:t>
            </a:r>
          </a:p>
        </p:txBody>
      </p:sp>
      <p:sp>
        <p:nvSpPr>
          <p:cNvPr id="241" name="scheduler-ocs">
            <a:extLst>
              <a:ext uri="{FF2B5EF4-FFF2-40B4-BE49-F238E27FC236}">
                <a16:creationId xmlns:a16="http://schemas.microsoft.com/office/drawing/2014/main" id="{D9F88101-F4C7-435E-8660-7569DE3A5DE3}"/>
              </a:ext>
            </a:extLst>
          </p:cNvPr>
          <p:cNvSpPr>
            <a:spLocks noGrp="1"/>
          </p:cNvSpPr>
          <p:nvPr/>
        </p:nvSpPr>
        <p:spPr>
          <a:xfrm>
            <a:off x="4648200" y="6657975"/>
            <a:ext cx="876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5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 i="0">
                <a:solidFill>
                  <a:srgbClr val="06265F"/>
                </a:solidFill>
                <a:cs typeface="Microsoft YaHei"/>
              </a:rPr>
              <a:t>OCS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OfficeEq-Scheduler-Objective">
                <a:extLst>
                  <a:ext uri="{FF2B5EF4-FFF2-40B4-BE49-F238E27FC236}">
                    <a16:creationId xmlns:a16="http://schemas.microsoft.com/office/drawing/2014/main" id="{49D1736F-7E91-4B28-9AAE-818635F0CDD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57650" y="6943725"/>
                <a:ext cx="1971675" cy="276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0" rIns="9525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350" b="0" i="1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pPr>
                        <m:e>
                          <m: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𝑖</m:t>
                          </m:r>
                        </m:e>
                        <m:sup>
                          <m: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nn-NO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  <m:r>
                        <a:rPr lang="nn-NO" sz="1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=</m:t>
                      </m:r>
                      <m:func>
                        <m:funcPr>
                          <m:ctrlPr>
                            <a:rPr lang="nn-NO" sz="1300" b="0" i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n-NO" sz="1300" b="0" i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nn-NO" sz="1300" b="0" i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n-NO" sz="1300" b="0" i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  <m:t>min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nn-NO" sz="1300" b="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cs typeface="Microsoft YaHei"/>
                                    </a:rPr>
                                  </m:ctrlPr>
                                </m:sSubPr>
                                <m:e>
                                  <m:r>
                                    <a:rPr lang="nn-NO" sz="1300" b="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cs typeface="Microsoft YaHei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nn-NO" sz="1300" b="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cs typeface="Microsoft YaHei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nn-NO" sz="1300" b="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cs typeface="Microsoft YaHei"/>
                                    </a:rPr>
                                  </m:ctrlPr>
                                </m:dPr>
                                <m:e>
                                  <m:r>
                                    <a:rPr lang="nn-NO" sz="1300" b="0" i="1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cs typeface="Microsoft YaHei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242" name="OfficeEq-Scheduler-Objective">
                <a:extLst>
                  <a:ext uri="{FF2B5EF4-FFF2-40B4-BE49-F238E27FC236}">
                    <a16:creationId xmlns:a16="http://schemas.microsoft.com/office/drawing/2014/main" id="{49D1736F-7E91-4B28-9AAE-818635F0C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650" y="6943725"/>
                <a:ext cx="1971675" cy="276225"/>
              </a:xfrm>
              <a:prstGeom prst="rect">
                <a:avLst/>
              </a:prstGeom>
              <a:blipFill>
                <a:blip r:embed="rId20"/>
                <a:stretch>
                  <a:fillRect t="-4444" b="-2222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robust-card">
            <a:extLst>
              <a:ext uri="{FF2B5EF4-FFF2-40B4-BE49-F238E27FC236}">
                <a16:creationId xmlns:a16="http://schemas.microsoft.com/office/drawing/2014/main" id="{71E645E6-68B0-437F-B2A4-59803F9C8EBE}"/>
              </a:ext>
            </a:extLst>
          </p:cNvPr>
          <p:cNvSpPr>
            <a:spLocks noGrp="1"/>
          </p:cNvSpPr>
          <p:nvPr/>
        </p:nvSpPr>
        <p:spPr>
          <a:xfrm>
            <a:off x="8105775" y="4648200"/>
            <a:ext cx="3429000" cy="2628900"/>
          </a:xfrm>
          <a:prstGeom prst="roundRect">
            <a:avLst>
              <a:gd name="adj" fmla="val 3623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sp>
        <p:nvSpPr>
          <p:cNvPr id="244" name="robust-title-fill">
            <a:extLst>
              <a:ext uri="{FF2B5EF4-FFF2-40B4-BE49-F238E27FC236}">
                <a16:creationId xmlns:a16="http://schemas.microsoft.com/office/drawing/2014/main" id="{9529FEEB-61D9-409F-AADE-CF8FC6103333}"/>
              </a:ext>
            </a:extLst>
          </p:cNvPr>
          <p:cNvSpPr>
            <a:spLocks noGrp="1"/>
          </p:cNvSpPr>
          <p:nvPr/>
        </p:nvSpPr>
        <p:spPr>
          <a:xfrm>
            <a:off x="8115300" y="4657725"/>
            <a:ext cx="3409950" cy="3429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245" name="robust-title">
            <a:extLst>
              <a:ext uri="{FF2B5EF4-FFF2-40B4-BE49-F238E27FC236}">
                <a16:creationId xmlns:a16="http://schemas.microsoft.com/office/drawing/2014/main" id="{B911D3E8-C1D8-4F7A-966A-1E1FF4528790}"/>
              </a:ext>
            </a:extLst>
          </p:cNvPr>
          <p:cNvSpPr>
            <a:spLocks noGrp="1"/>
          </p:cNvSpPr>
          <p:nvPr/>
        </p:nvSpPr>
        <p:spPr>
          <a:xfrm>
            <a:off x="8877300" y="4676775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80" b="1" i="0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80" b="1" i="0">
                <a:solidFill>
                  <a:srgbClr val="06265F"/>
                </a:solidFill>
                <a:cs typeface="Microsoft YaHei"/>
              </a:rPr>
              <a:t>鲁棒保成本控制器</a:t>
            </a:r>
          </a:p>
        </p:txBody>
      </p:sp>
      <p:sp>
        <p:nvSpPr>
          <p:cNvPr id="246" name="robust-feature-card-1">
            <a:extLst>
              <a:ext uri="{FF2B5EF4-FFF2-40B4-BE49-F238E27FC236}">
                <a16:creationId xmlns:a16="http://schemas.microsoft.com/office/drawing/2014/main" id="{958AB3A5-DEC1-484B-84AF-868A3CB055D0}"/>
              </a:ext>
            </a:extLst>
          </p:cNvPr>
          <p:cNvSpPr>
            <a:spLocks noGrp="1"/>
          </p:cNvSpPr>
          <p:nvPr/>
        </p:nvSpPr>
        <p:spPr>
          <a:xfrm>
            <a:off x="8191500" y="5038725"/>
            <a:ext cx="1285875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644" name="图片 643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8260216" y="5067300"/>
            <a:ext cx="300718" cy="323850"/>
          </a:xfrm>
          <a:prstGeom prst="rect">
            <a:avLst/>
          </a:prstGeom>
        </p:spPr>
      </p:pic>
      <p:sp>
        <p:nvSpPr>
          <p:cNvPr id="248" name="robust-feature-label-1">
            <a:extLst>
              <a:ext uri="{FF2B5EF4-FFF2-40B4-BE49-F238E27FC236}">
                <a16:creationId xmlns:a16="http://schemas.microsoft.com/office/drawing/2014/main" id="{E94E2544-2155-46DD-B997-2CF957785A8A}"/>
              </a:ext>
            </a:extLst>
          </p:cNvPr>
          <p:cNvSpPr>
            <a:spLocks noGrp="1"/>
          </p:cNvSpPr>
          <p:nvPr/>
        </p:nvSpPr>
        <p:spPr>
          <a:xfrm>
            <a:off x="8620125" y="5057775"/>
            <a:ext cx="809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H</a:t>
            </a:r>
            <a:r>
              <a:rPr sz="1020" b="0" i="0" baseline="-25000">
                <a:solidFill>
                  <a:srgbClr val="111111"/>
                </a:solidFill>
                <a:cs typeface="Microsoft YaHei"/>
              </a:rPr>
              <a:t>∞</a:t>
            </a:r>
            <a:r>
              <a:rPr sz="1020" b="0" i="0">
                <a:solidFill>
                  <a:srgbClr val="111111"/>
                </a:solidFill>
                <a:cs typeface="Microsoft YaHei"/>
              </a:rPr>
              <a:t> 扰动抑制</a:t>
            </a:r>
          </a:p>
        </p:txBody>
      </p:sp>
      <p:sp>
        <p:nvSpPr>
          <p:cNvPr id="249" name="robust-feature-card-2">
            <a:extLst>
              <a:ext uri="{FF2B5EF4-FFF2-40B4-BE49-F238E27FC236}">
                <a16:creationId xmlns:a16="http://schemas.microsoft.com/office/drawing/2014/main" id="{2044C407-8ADB-4C52-A977-B5C8077B60A8}"/>
              </a:ext>
            </a:extLst>
          </p:cNvPr>
          <p:cNvSpPr>
            <a:spLocks noGrp="1"/>
          </p:cNvSpPr>
          <p:nvPr/>
        </p:nvSpPr>
        <p:spPr>
          <a:xfrm>
            <a:off x="8191500" y="5457825"/>
            <a:ext cx="1285875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647" name="图片 646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8257325" y="5486400"/>
            <a:ext cx="306501" cy="323850"/>
          </a:xfrm>
          <a:prstGeom prst="rect">
            <a:avLst/>
          </a:prstGeom>
        </p:spPr>
      </p:pic>
      <p:sp>
        <p:nvSpPr>
          <p:cNvPr id="251" name="robust-feature-label-2">
            <a:extLst>
              <a:ext uri="{FF2B5EF4-FFF2-40B4-BE49-F238E27FC236}">
                <a16:creationId xmlns:a16="http://schemas.microsoft.com/office/drawing/2014/main" id="{523F5A5E-12B3-4DCC-AC70-DE32C852509E}"/>
              </a:ext>
            </a:extLst>
          </p:cNvPr>
          <p:cNvSpPr>
            <a:spLocks noGrp="1"/>
          </p:cNvSpPr>
          <p:nvPr/>
        </p:nvSpPr>
        <p:spPr>
          <a:xfrm>
            <a:off x="8620125" y="5476875"/>
            <a:ext cx="809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任意切换稳定</a:t>
            </a:r>
          </a:p>
        </p:txBody>
      </p:sp>
      <p:sp>
        <p:nvSpPr>
          <p:cNvPr id="252" name="robust-feature-card-3">
            <a:extLst>
              <a:ext uri="{FF2B5EF4-FFF2-40B4-BE49-F238E27FC236}">
                <a16:creationId xmlns:a16="http://schemas.microsoft.com/office/drawing/2014/main" id="{14F0FC63-B7B5-4CCB-A915-0BF3A3ABA504}"/>
              </a:ext>
            </a:extLst>
          </p:cNvPr>
          <p:cNvSpPr>
            <a:spLocks noGrp="1"/>
          </p:cNvSpPr>
          <p:nvPr/>
        </p:nvSpPr>
        <p:spPr>
          <a:xfrm>
            <a:off x="8191500" y="5876925"/>
            <a:ext cx="1285875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650" name="图片 649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8244274" y="5905500"/>
            <a:ext cx="332603" cy="323850"/>
          </a:xfrm>
          <a:prstGeom prst="rect">
            <a:avLst/>
          </a:prstGeom>
        </p:spPr>
      </p:pic>
      <p:sp>
        <p:nvSpPr>
          <p:cNvPr id="254" name="robust-feature-label-3">
            <a:extLst>
              <a:ext uri="{FF2B5EF4-FFF2-40B4-BE49-F238E27FC236}">
                <a16:creationId xmlns:a16="http://schemas.microsoft.com/office/drawing/2014/main" id="{1AC9A494-DC71-4E5F-9A1D-F2B3F3142657}"/>
              </a:ext>
            </a:extLst>
          </p:cNvPr>
          <p:cNvSpPr>
            <a:spLocks noGrp="1"/>
          </p:cNvSpPr>
          <p:nvPr/>
        </p:nvSpPr>
        <p:spPr>
          <a:xfrm>
            <a:off x="8620125" y="5895975"/>
            <a:ext cx="809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0" b="0" i="0">
                <a:solidFill>
                  <a:srgbClr val="111111"/>
                </a:solidFill>
                <a:cs typeface="Microsoft YaHei"/>
              </a:rPr>
              <a:t>电压参考指令</a:t>
            </a:r>
          </a:p>
        </p:txBody>
      </p:sp>
      <p:sp>
        <p:nvSpPr>
          <p:cNvPr id="255" name="lmi-card">
            <a:extLst>
              <a:ext uri="{FF2B5EF4-FFF2-40B4-BE49-F238E27FC236}">
                <a16:creationId xmlns:a16="http://schemas.microsoft.com/office/drawing/2014/main" id="{241F2930-397C-4533-A042-B2E76F0B1804}"/>
              </a:ext>
            </a:extLst>
          </p:cNvPr>
          <p:cNvSpPr>
            <a:spLocks noGrp="1"/>
          </p:cNvSpPr>
          <p:nvPr/>
        </p:nvSpPr>
        <p:spPr>
          <a:xfrm>
            <a:off x="8201025" y="6286500"/>
            <a:ext cx="1162050" cy="619125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8573">
            <a:solidFill>
              <a:srgbClr val="77A8E4"/>
            </a:solidFill>
            <a:prstDash val="solid"/>
          </a:ln>
        </p:spPr>
      </p:sp>
      <p:sp>
        <p:nvSpPr>
          <p:cNvPr id="256" name="lmi-title">
            <a:extLst>
              <a:ext uri="{FF2B5EF4-FFF2-40B4-BE49-F238E27FC236}">
                <a16:creationId xmlns:a16="http://schemas.microsoft.com/office/drawing/2014/main" id="{B8175E97-235B-4912-AFD0-0551CE415133}"/>
              </a:ext>
            </a:extLst>
          </p:cNvPr>
          <p:cNvSpPr>
            <a:spLocks noGrp="1"/>
          </p:cNvSpPr>
          <p:nvPr/>
        </p:nvSpPr>
        <p:spPr>
          <a:xfrm>
            <a:off x="8524875" y="6229350"/>
            <a:ext cx="514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11111"/>
                </a:solidFill>
                <a:cs typeface="Microsoft YaHei"/>
              </a:rPr>
              <a:t>LMI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OfficeEq-LMI-Matrix">
                <a:extLst>
                  <a:ext uri="{FF2B5EF4-FFF2-40B4-BE49-F238E27FC236}">
                    <a16:creationId xmlns:a16="http://schemas.microsoft.com/office/drawing/2014/main" id="{AE1F5981-C7DE-4AB8-954C-4FDE0F7DBF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48650" y="6334125"/>
                <a:ext cx="1400175" cy="5048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0" rIns="9525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2300" b="0" i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l-GR" sz="115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l-GR" sz="115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Microsoft YaHei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l-GR" sz="1150" b="0" i="0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150" b="0" i="0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l-GR" sz="1150" b="0" i="1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l-GR" sz="1150" b="0" i="0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150" b="0" i="0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l-GR" sz="1150" b="0" i="1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l-GR" sz="1150" b="0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cs typeface="Microsoft YaHei"/>
                                  </a:rPr>
                                  <m:t>∗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l-GR" sz="1150" b="0" i="0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150" b="0" i="0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l-GR" sz="1150" b="0" i="1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cs typeface="Microsoft YaHei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l-GR" sz="115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&lt;0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57" name="OfficeEq-LMI-Matrix">
                <a:extLst>
                  <a:ext uri="{FF2B5EF4-FFF2-40B4-BE49-F238E27FC236}">
                    <a16:creationId xmlns:a16="http://schemas.microsoft.com/office/drawing/2014/main" id="{AE1F5981-C7DE-4AB8-954C-4FDE0F7DBF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650" y="6334125"/>
                <a:ext cx="1400175" cy="50482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0" name="图片 659"/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9848850" y="5232307"/>
            <a:ext cx="1066800" cy="555812"/>
          </a:xfrm>
          <a:prstGeom prst="rect">
            <a:avLst/>
          </a:prstGeom>
        </p:spPr>
      </p:pic>
      <p:sp>
        <p:nvSpPr>
          <p:cNvPr id="264" name="robust-rack-label">
            <a:extLst>
              <a:ext uri="{FF2B5EF4-FFF2-40B4-BE49-F238E27FC236}">
                <a16:creationId xmlns:a16="http://schemas.microsoft.com/office/drawing/2014/main" id="{FA580FD8-1C9F-4CC4-9CF1-452D8EAB36F6}"/>
              </a:ext>
            </a:extLst>
          </p:cNvPr>
          <p:cNvSpPr>
            <a:spLocks noGrp="1"/>
          </p:cNvSpPr>
          <p:nvPr/>
        </p:nvSpPr>
        <p:spPr>
          <a:xfrm>
            <a:off x="9963150" y="5010150"/>
            <a:ext cx="8763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3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0" b="1" i="0">
                <a:solidFill>
                  <a:srgbClr val="111111"/>
                </a:solidFill>
                <a:cs typeface="Microsoft YaHei"/>
              </a:rPr>
              <a:t>集中控制器</a:t>
            </a:r>
          </a:p>
        </p:txBody>
      </p:sp>
      <p:sp>
        <p:nvSpPr>
          <p:cNvPr id="265" name="robust-feature-path-1-from-anchor-63">
            <a:extLst>
              <a:ext uri="{FF2B5EF4-FFF2-40B4-BE49-F238E27FC236}">
                <a16:creationId xmlns:a16="http://schemas.microsoft.com/office/drawing/2014/main" id="{B646AB23-B62F-4E6A-AE40-0E073FB3BECF}"/>
              </a:ext>
            </a:extLst>
          </p:cNvPr>
          <p:cNvSpPr>
            <a:spLocks noGrp="1"/>
          </p:cNvSpPr>
          <p:nvPr/>
        </p:nvSpPr>
        <p:spPr>
          <a:xfrm>
            <a:off x="9474518" y="5226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66" name="robust-feature-path-1-to-anchor-64">
            <a:extLst>
              <a:ext uri="{FF2B5EF4-FFF2-40B4-BE49-F238E27FC236}">
                <a16:creationId xmlns:a16="http://schemas.microsoft.com/office/drawing/2014/main" id="{FADA762E-67ED-4E2D-A976-A5092AEEE97F}"/>
              </a:ext>
            </a:extLst>
          </p:cNvPr>
          <p:cNvSpPr>
            <a:spLocks noGrp="1"/>
          </p:cNvSpPr>
          <p:nvPr/>
        </p:nvSpPr>
        <p:spPr>
          <a:xfrm>
            <a:off x="9741218" y="5226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64" name="robust-feature-path-1"/>
          <p:cNvCxnSpPr>
            <a:stCxn id="265" idx="6"/>
            <a:endCxn id="266" idx="2"/>
          </p:cNvCxnSpPr>
          <p:nvPr/>
        </p:nvCxnSpPr>
        <p:spPr>
          <a:xfrm>
            <a:off x="9480233" y="5229225"/>
            <a:ext cx="260985" cy="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68" name="robust-feature-path-v-1-from-anchor-65">
            <a:extLst>
              <a:ext uri="{FF2B5EF4-FFF2-40B4-BE49-F238E27FC236}">
                <a16:creationId xmlns:a16="http://schemas.microsoft.com/office/drawing/2014/main" id="{1FB43F71-6C61-40B5-9739-4E3A9DD5FD8F}"/>
              </a:ext>
            </a:extLst>
          </p:cNvPr>
          <p:cNvSpPr>
            <a:spLocks noGrp="1"/>
          </p:cNvSpPr>
          <p:nvPr/>
        </p:nvSpPr>
        <p:spPr>
          <a:xfrm>
            <a:off x="9741218" y="5226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69" name="robust-feature-path-v-1-to-anchor-66">
            <a:extLst>
              <a:ext uri="{FF2B5EF4-FFF2-40B4-BE49-F238E27FC236}">
                <a16:creationId xmlns:a16="http://schemas.microsoft.com/office/drawing/2014/main" id="{7A594900-891A-4247-83D2-7F55A7D7E8D4}"/>
              </a:ext>
            </a:extLst>
          </p:cNvPr>
          <p:cNvSpPr>
            <a:spLocks noGrp="1"/>
          </p:cNvSpPr>
          <p:nvPr/>
        </p:nvSpPr>
        <p:spPr>
          <a:xfrm>
            <a:off x="9741218" y="5483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67" name="robust-feature-path-v-1"/>
          <p:cNvCxnSpPr>
            <a:stCxn id="268" idx="4"/>
            <a:endCxn id="269" idx="0"/>
          </p:cNvCxnSpPr>
          <p:nvPr/>
        </p:nvCxnSpPr>
        <p:spPr>
          <a:xfrm>
            <a:off x="9744076" y="5232083"/>
            <a:ext cx="0" cy="25146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71" name="robust-feature-path-2-from-anchor-67">
            <a:extLst>
              <a:ext uri="{FF2B5EF4-FFF2-40B4-BE49-F238E27FC236}">
                <a16:creationId xmlns:a16="http://schemas.microsoft.com/office/drawing/2014/main" id="{395AA14A-898C-491D-A2A0-96F396CA7357}"/>
              </a:ext>
            </a:extLst>
          </p:cNvPr>
          <p:cNvSpPr>
            <a:spLocks noGrp="1"/>
          </p:cNvSpPr>
          <p:nvPr/>
        </p:nvSpPr>
        <p:spPr>
          <a:xfrm>
            <a:off x="9474518" y="56454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72" name="robust-feature-path-2-to-anchor-68">
            <a:extLst>
              <a:ext uri="{FF2B5EF4-FFF2-40B4-BE49-F238E27FC236}">
                <a16:creationId xmlns:a16="http://schemas.microsoft.com/office/drawing/2014/main" id="{8E6D12B9-5DBD-4D20-AFD3-215FAADAABA5}"/>
              </a:ext>
            </a:extLst>
          </p:cNvPr>
          <p:cNvSpPr>
            <a:spLocks noGrp="1"/>
          </p:cNvSpPr>
          <p:nvPr/>
        </p:nvSpPr>
        <p:spPr>
          <a:xfrm>
            <a:off x="9741218" y="56454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70" name="robust-feature-path-2"/>
          <p:cNvCxnSpPr>
            <a:stCxn id="271" idx="6"/>
            <a:endCxn id="272" idx="2"/>
          </p:cNvCxnSpPr>
          <p:nvPr/>
        </p:nvCxnSpPr>
        <p:spPr>
          <a:xfrm>
            <a:off x="9480233" y="5648325"/>
            <a:ext cx="260985" cy="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74" name="robust-feature-path-v-2-from-anchor-69">
            <a:extLst>
              <a:ext uri="{FF2B5EF4-FFF2-40B4-BE49-F238E27FC236}">
                <a16:creationId xmlns:a16="http://schemas.microsoft.com/office/drawing/2014/main" id="{9E6A47D9-BFA1-4B5D-BB25-0D4CEFAB5FBB}"/>
              </a:ext>
            </a:extLst>
          </p:cNvPr>
          <p:cNvSpPr>
            <a:spLocks noGrp="1"/>
          </p:cNvSpPr>
          <p:nvPr/>
        </p:nvSpPr>
        <p:spPr>
          <a:xfrm>
            <a:off x="9741218" y="56454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75" name="robust-feature-path-v-2-to-anchor-70">
            <a:extLst>
              <a:ext uri="{FF2B5EF4-FFF2-40B4-BE49-F238E27FC236}">
                <a16:creationId xmlns:a16="http://schemas.microsoft.com/office/drawing/2014/main" id="{A012EE4F-F7D4-4A75-B34E-C7836BB3D2FA}"/>
              </a:ext>
            </a:extLst>
          </p:cNvPr>
          <p:cNvSpPr>
            <a:spLocks noGrp="1"/>
          </p:cNvSpPr>
          <p:nvPr/>
        </p:nvSpPr>
        <p:spPr>
          <a:xfrm>
            <a:off x="9741218" y="5483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73" name="robust-feature-path-v-2"/>
          <p:cNvCxnSpPr>
            <a:stCxn id="274" idx="0"/>
            <a:endCxn id="275" idx="4"/>
          </p:cNvCxnSpPr>
          <p:nvPr/>
        </p:nvCxnSpPr>
        <p:spPr>
          <a:xfrm flipV="1">
            <a:off x="9744076" y="5489258"/>
            <a:ext cx="0" cy="15621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77" name="robust-feature-path-3-from-anchor-71">
            <a:extLst>
              <a:ext uri="{FF2B5EF4-FFF2-40B4-BE49-F238E27FC236}">
                <a16:creationId xmlns:a16="http://schemas.microsoft.com/office/drawing/2014/main" id="{376C9915-635E-4324-BB76-6DBFF8B6BBA1}"/>
              </a:ext>
            </a:extLst>
          </p:cNvPr>
          <p:cNvSpPr>
            <a:spLocks noGrp="1"/>
          </p:cNvSpPr>
          <p:nvPr/>
        </p:nvSpPr>
        <p:spPr>
          <a:xfrm>
            <a:off x="9474518" y="60645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78" name="robust-feature-path-3-to-anchor-72">
            <a:extLst>
              <a:ext uri="{FF2B5EF4-FFF2-40B4-BE49-F238E27FC236}">
                <a16:creationId xmlns:a16="http://schemas.microsoft.com/office/drawing/2014/main" id="{9C845074-7A92-4F64-88AC-0D38FC253C20}"/>
              </a:ext>
            </a:extLst>
          </p:cNvPr>
          <p:cNvSpPr>
            <a:spLocks noGrp="1"/>
          </p:cNvSpPr>
          <p:nvPr/>
        </p:nvSpPr>
        <p:spPr>
          <a:xfrm>
            <a:off x="9741218" y="60645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76" name="robust-feature-path-3"/>
          <p:cNvCxnSpPr>
            <a:stCxn id="277" idx="6"/>
            <a:endCxn id="278" idx="2"/>
          </p:cNvCxnSpPr>
          <p:nvPr/>
        </p:nvCxnSpPr>
        <p:spPr>
          <a:xfrm>
            <a:off x="9480233" y="6067425"/>
            <a:ext cx="260985" cy="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80" name="robust-feature-path-v-3-from-anchor-73">
            <a:extLst>
              <a:ext uri="{FF2B5EF4-FFF2-40B4-BE49-F238E27FC236}">
                <a16:creationId xmlns:a16="http://schemas.microsoft.com/office/drawing/2014/main" id="{F82E8438-7FDC-4826-9467-CC777E0D50B5}"/>
              </a:ext>
            </a:extLst>
          </p:cNvPr>
          <p:cNvSpPr>
            <a:spLocks noGrp="1"/>
          </p:cNvSpPr>
          <p:nvPr/>
        </p:nvSpPr>
        <p:spPr>
          <a:xfrm>
            <a:off x="9741218" y="60645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81" name="robust-feature-path-v-3-to-anchor-74">
            <a:extLst>
              <a:ext uri="{FF2B5EF4-FFF2-40B4-BE49-F238E27FC236}">
                <a16:creationId xmlns:a16="http://schemas.microsoft.com/office/drawing/2014/main" id="{EAA33B99-BB12-4694-A5C5-1A95008531CD}"/>
              </a:ext>
            </a:extLst>
          </p:cNvPr>
          <p:cNvSpPr>
            <a:spLocks noGrp="1"/>
          </p:cNvSpPr>
          <p:nvPr/>
        </p:nvSpPr>
        <p:spPr>
          <a:xfrm>
            <a:off x="9741218" y="5483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79" name="robust-feature-path-v-3"/>
          <p:cNvCxnSpPr>
            <a:stCxn id="280" idx="0"/>
            <a:endCxn id="281" idx="4"/>
          </p:cNvCxnSpPr>
          <p:nvPr/>
        </p:nvCxnSpPr>
        <p:spPr>
          <a:xfrm flipV="1">
            <a:off x="9744076" y="5489258"/>
            <a:ext cx="0" cy="57531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83" name="robust-feature-path-4-from-anchor-75">
            <a:extLst>
              <a:ext uri="{FF2B5EF4-FFF2-40B4-BE49-F238E27FC236}">
                <a16:creationId xmlns:a16="http://schemas.microsoft.com/office/drawing/2014/main" id="{D10E9FEC-8DE7-4497-9BF5-788968F2A2CC}"/>
              </a:ext>
            </a:extLst>
          </p:cNvPr>
          <p:cNvSpPr>
            <a:spLocks noGrp="1"/>
          </p:cNvSpPr>
          <p:nvPr/>
        </p:nvSpPr>
        <p:spPr>
          <a:xfrm>
            <a:off x="9360218" y="65884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84" name="robust-feature-path-4-to-anchor-76">
            <a:extLst>
              <a:ext uri="{FF2B5EF4-FFF2-40B4-BE49-F238E27FC236}">
                <a16:creationId xmlns:a16="http://schemas.microsoft.com/office/drawing/2014/main" id="{DAB86A0A-CBE4-4ABD-9EBC-DBADB08D9BFC}"/>
              </a:ext>
            </a:extLst>
          </p:cNvPr>
          <p:cNvSpPr>
            <a:spLocks noGrp="1"/>
          </p:cNvSpPr>
          <p:nvPr/>
        </p:nvSpPr>
        <p:spPr>
          <a:xfrm>
            <a:off x="9741218" y="65884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82" name="robust-feature-path-4"/>
          <p:cNvCxnSpPr>
            <a:stCxn id="283" idx="6"/>
            <a:endCxn id="284" idx="2"/>
          </p:cNvCxnSpPr>
          <p:nvPr/>
        </p:nvCxnSpPr>
        <p:spPr>
          <a:xfrm>
            <a:off x="9365933" y="6591300"/>
            <a:ext cx="375285" cy="0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86" name="robust-feature-path-v-4-from-anchor-77">
            <a:extLst>
              <a:ext uri="{FF2B5EF4-FFF2-40B4-BE49-F238E27FC236}">
                <a16:creationId xmlns:a16="http://schemas.microsoft.com/office/drawing/2014/main" id="{56088697-FF9F-40B8-98EE-30F089D2D2B7}"/>
              </a:ext>
            </a:extLst>
          </p:cNvPr>
          <p:cNvSpPr>
            <a:spLocks noGrp="1"/>
          </p:cNvSpPr>
          <p:nvPr/>
        </p:nvSpPr>
        <p:spPr>
          <a:xfrm>
            <a:off x="9741218" y="65884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87" name="robust-feature-path-v-4-to-anchor-78">
            <a:extLst>
              <a:ext uri="{FF2B5EF4-FFF2-40B4-BE49-F238E27FC236}">
                <a16:creationId xmlns:a16="http://schemas.microsoft.com/office/drawing/2014/main" id="{389EEC75-76F1-4B76-8D59-3082B0723489}"/>
              </a:ext>
            </a:extLst>
          </p:cNvPr>
          <p:cNvSpPr>
            <a:spLocks noGrp="1"/>
          </p:cNvSpPr>
          <p:nvPr/>
        </p:nvSpPr>
        <p:spPr>
          <a:xfrm>
            <a:off x="9741218" y="5483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85" name="robust-feature-path-v-4"/>
          <p:cNvCxnSpPr>
            <a:stCxn id="286" idx="0"/>
            <a:endCxn id="287" idx="4"/>
          </p:cNvCxnSpPr>
          <p:nvPr/>
        </p:nvCxnSpPr>
        <p:spPr>
          <a:xfrm flipV="1">
            <a:off x="9744076" y="5489258"/>
            <a:ext cx="0" cy="1099185"/>
          </a:xfrm>
          <a:prstGeom prst="straightConnector1">
            <a:avLst/>
          </a:prstGeom>
          <a:ln w="10478" cap="rnd">
            <a:solidFill>
              <a:srgbClr val="0964BE"/>
            </a:solidFill>
            <a:prstDash val="dash"/>
            <a:round/>
          </a:ln>
        </p:spPr>
      </p:cxnSp>
      <p:sp>
        <p:nvSpPr>
          <p:cNvPr id="289" name="robust-path-to-rack-from-anchor-79">
            <a:extLst>
              <a:ext uri="{FF2B5EF4-FFF2-40B4-BE49-F238E27FC236}">
                <a16:creationId xmlns:a16="http://schemas.microsoft.com/office/drawing/2014/main" id="{0A27FF9D-BE04-4022-90D8-F447B2790727}"/>
              </a:ext>
            </a:extLst>
          </p:cNvPr>
          <p:cNvSpPr>
            <a:spLocks noGrp="1"/>
          </p:cNvSpPr>
          <p:nvPr/>
        </p:nvSpPr>
        <p:spPr>
          <a:xfrm>
            <a:off x="9741218" y="5483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90" name="robust-path-to-rack-to-anchor-80">
            <a:extLst>
              <a:ext uri="{FF2B5EF4-FFF2-40B4-BE49-F238E27FC236}">
                <a16:creationId xmlns:a16="http://schemas.microsoft.com/office/drawing/2014/main" id="{8368B51C-3604-4D3C-9023-A5349859BFD4}"/>
              </a:ext>
            </a:extLst>
          </p:cNvPr>
          <p:cNvSpPr>
            <a:spLocks noGrp="1"/>
          </p:cNvSpPr>
          <p:nvPr/>
        </p:nvSpPr>
        <p:spPr>
          <a:xfrm>
            <a:off x="9845993" y="54835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88" name="robust-path-to-rack"/>
          <p:cNvCxnSpPr>
            <a:stCxn id="289" idx="6"/>
            <a:endCxn id="290" idx="2"/>
          </p:cNvCxnSpPr>
          <p:nvPr/>
        </p:nvCxnSpPr>
        <p:spPr>
          <a:xfrm>
            <a:off x="9746933" y="5486400"/>
            <a:ext cx="99060" cy="0"/>
          </a:xfrm>
          <a:prstGeom prst="straightConnector1">
            <a:avLst/>
          </a:prstGeom>
          <a:ln w="11430" cap="rnd">
            <a:solidFill>
              <a:srgbClr val="0964BE"/>
            </a:solidFill>
            <a:prstDash val="dash"/>
            <a:round/>
            <a:tailEnd type="triangle" w="sm" len="sm"/>
          </a:ln>
        </p:spPr>
      </p:cxnSp>
      <p:sp>
        <p:nvSpPr>
          <p:cNvPr id="292" name="robust-vref-1">
            <a:extLst>
              <a:ext uri="{FF2B5EF4-FFF2-40B4-BE49-F238E27FC236}">
                <a16:creationId xmlns:a16="http://schemas.microsoft.com/office/drawing/2014/main" id="{7FE3EEF3-82DA-4334-BFFA-A9766C9B28B5}"/>
              </a:ext>
            </a:extLst>
          </p:cNvPr>
          <p:cNvSpPr>
            <a:spLocks noGrp="1"/>
          </p:cNvSpPr>
          <p:nvPr/>
        </p:nvSpPr>
        <p:spPr>
          <a:xfrm>
            <a:off x="9601200" y="5800725"/>
            <a:ext cx="552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6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 i="1">
                <a:solidFill>
                  <a:srgbClr val="06265F"/>
                </a:solidFill>
                <a:cs typeface="Microsoft YaHei"/>
              </a:rPr>
              <a:t>ΔV</a:t>
            </a:r>
            <a:r>
              <a:rPr sz="960" b="0" i="1" baseline="-25000">
                <a:solidFill>
                  <a:srgbClr val="06265F"/>
                </a:solidFill>
                <a:cs typeface="Microsoft YaHei"/>
              </a:rPr>
              <a:t>ref,1</a:t>
            </a:r>
          </a:p>
        </p:txBody>
      </p:sp>
      <p:sp>
        <p:nvSpPr>
          <p:cNvPr id="293" name="robust-rack-down-1-from-anchor-81">
            <a:extLst>
              <a:ext uri="{FF2B5EF4-FFF2-40B4-BE49-F238E27FC236}">
                <a16:creationId xmlns:a16="http://schemas.microsoft.com/office/drawing/2014/main" id="{23EEDB65-2954-4D45-B98D-A98DF14B69D4}"/>
              </a:ext>
            </a:extLst>
          </p:cNvPr>
          <p:cNvSpPr>
            <a:spLocks noGrp="1"/>
          </p:cNvSpPr>
          <p:nvPr/>
        </p:nvSpPr>
        <p:spPr>
          <a:xfrm>
            <a:off x="9874568" y="57978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94" name="robust-rack-down-1-to-anchor-82">
            <a:extLst>
              <a:ext uri="{FF2B5EF4-FFF2-40B4-BE49-F238E27FC236}">
                <a16:creationId xmlns:a16="http://schemas.microsoft.com/office/drawing/2014/main" id="{1353ACB6-06CA-43A5-BD53-B8881388B228}"/>
              </a:ext>
            </a:extLst>
          </p:cNvPr>
          <p:cNvSpPr>
            <a:spLocks noGrp="1"/>
          </p:cNvSpPr>
          <p:nvPr/>
        </p:nvSpPr>
        <p:spPr>
          <a:xfrm>
            <a:off x="9874568" y="6102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92" name="robust-rack-down-1"/>
          <p:cNvCxnSpPr>
            <a:stCxn id="293" idx="4"/>
            <a:endCxn id="294" idx="0"/>
          </p:cNvCxnSpPr>
          <p:nvPr/>
        </p:nvCxnSpPr>
        <p:spPr>
          <a:xfrm>
            <a:off x="9877426" y="5803583"/>
            <a:ext cx="0" cy="299085"/>
          </a:xfrm>
          <a:prstGeom prst="straightConnector1">
            <a:avLst/>
          </a:prstGeom>
          <a:ln w="11430" cap="rnd">
            <a:solidFill>
              <a:srgbClr val="0964BE"/>
            </a:solidFill>
            <a:prstDash val="solid"/>
            <a:round/>
            <a:tailEnd type="triangle" w="sm" len="sm"/>
          </a:ln>
        </p:spPr>
      </p:cxnSp>
      <p:pic>
        <p:nvPicPr>
          <p:cNvPr id="693" name="图片 69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693166" y="6105525"/>
            <a:ext cx="368519" cy="419100"/>
          </a:xfrm>
          <a:prstGeom prst="rect">
            <a:avLst/>
          </a:prstGeom>
        </p:spPr>
      </p:pic>
      <p:sp>
        <p:nvSpPr>
          <p:cNvPr id="297" name="robust-dg-label-1">
            <a:extLst>
              <a:ext uri="{FF2B5EF4-FFF2-40B4-BE49-F238E27FC236}">
                <a16:creationId xmlns:a16="http://schemas.microsoft.com/office/drawing/2014/main" id="{762D3261-5B02-40D3-AC55-2643AD1CD46D}"/>
              </a:ext>
            </a:extLst>
          </p:cNvPr>
          <p:cNvSpPr>
            <a:spLocks noGrp="1"/>
          </p:cNvSpPr>
          <p:nvPr/>
        </p:nvSpPr>
        <p:spPr>
          <a:xfrm>
            <a:off x="9591675" y="6515100"/>
            <a:ext cx="571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4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0" b="0" i="0">
                <a:solidFill>
                  <a:srgbClr val="111111"/>
                </a:solidFill>
                <a:cs typeface="Microsoft YaHei"/>
              </a:rPr>
              <a:t>DG1</a:t>
            </a:r>
          </a:p>
          <a:p>
            <a:pPr algn="ctr">
              <a:lnSpc>
                <a:spcPct val="100000"/>
              </a:lnSpc>
              <a:buNone/>
              <a:defRPr sz="94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0" b="0" i="0">
                <a:solidFill>
                  <a:srgbClr val="111111"/>
                </a:solidFill>
                <a:cs typeface="Microsoft YaHei"/>
              </a:rPr>
              <a:t>执行器</a:t>
            </a:r>
          </a:p>
        </p:txBody>
      </p:sp>
      <p:sp>
        <p:nvSpPr>
          <p:cNvPr id="298" name="robust-vref-2">
            <a:extLst>
              <a:ext uri="{FF2B5EF4-FFF2-40B4-BE49-F238E27FC236}">
                <a16:creationId xmlns:a16="http://schemas.microsoft.com/office/drawing/2014/main" id="{E9A6F690-E287-488E-9C31-C324A2BA321A}"/>
              </a:ext>
            </a:extLst>
          </p:cNvPr>
          <p:cNvSpPr>
            <a:spLocks noGrp="1"/>
          </p:cNvSpPr>
          <p:nvPr/>
        </p:nvSpPr>
        <p:spPr>
          <a:xfrm>
            <a:off x="10163175" y="5800725"/>
            <a:ext cx="552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6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 i="1">
                <a:solidFill>
                  <a:srgbClr val="06265F"/>
                </a:solidFill>
                <a:cs typeface="Microsoft YaHei"/>
              </a:rPr>
              <a:t>ΔV</a:t>
            </a:r>
            <a:r>
              <a:rPr sz="960" b="0" i="1" baseline="-25000">
                <a:solidFill>
                  <a:srgbClr val="06265F"/>
                </a:solidFill>
                <a:cs typeface="Microsoft YaHei"/>
              </a:rPr>
              <a:t>ref,2</a:t>
            </a:r>
          </a:p>
        </p:txBody>
      </p:sp>
      <p:sp>
        <p:nvSpPr>
          <p:cNvPr id="299" name="robust-rack-down-2-from-anchor-83">
            <a:extLst>
              <a:ext uri="{FF2B5EF4-FFF2-40B4-BE49-F238E27FC236}">
                <a16:creationId xmlns:a16="http://schemas.microsoft.com/office/drawing/2014/main" id="{3E7D6071-1FB9-416C-BA5F-7EBE99F35488}"/>
              </a:ext>
            </a:extLst>
          </p:cNvPr>
          <p:cNvSpPr>
            <a:spLocks noGrp="1"/>
          </p:cNvSpPr>
          <p:nvPr/>
        </p:nvSpPr>
        <p:spPr>
          <a:xfrm>
            <a:off x="10436543" y="57978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00" name="robust-rack-down-2-to-anchor-84">
            <a:extLst>
              <a:ext uri="{FF2B5EF4-FFF2-40B4-BE49-F238E27FC236}">
                <a16:creationId xmlns:a16="http://schemas.microsoft.com/office/drawing/2014/main" id="{132EBDDC-20E0-4852-9A00-3BE5C0D3D757}"/>
              </a:ext>
            </a:extLst>
          </p:cNvPr>
          <p:cNvSpPr>
            <a:spLocks noGrp="1"/>
          </p:cNvSpPr>
          <p:nvPr/>
        </p:nvSpPr>
        <p:spPr>
          <a:xfrm>
            <a:off x="10436543" y="6102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698" name="robust-rack-down-2"/>
          <p:cNvCxnSpPr>
            <a:stCxn id="299" idx="4"/>
            <a:endCxn id="300" idx="0"/>
          </p:cNvCxnSpPr>
          <p:nvPr/>
        </p:nvCxnSpPr>
        <p:spPr>
          <a:xfrm>
            <a:off x="10439401" y="5803583"/>
            <a:ext cx="0" cy="299085"/>
          </a:xfrm>
          <a:prstGeom prst="straightConnector1">
            <a:avLst/>
          </a:prstGeom>
          <a:ln w="11430" cap="rnd">
            <a:solidFill>
              <a:srgbClr val="0964BE"/>
            </a:solidFill>
            <a:prstDash val="solid"/>
            <a:round/>
            <a:tailEnd type="triangle" w="sm" len="sm"/>
          </a:ln>
        </p:spPr>
      </p:cxnSp>
      <p:pic>
        <p:nvPicPr>
          <p:cNvPr id="699" name="图片 69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255141" y="6105525"/>
            <a:ext cx="368519" cy="419100"/>
          </a:xfrm>
          <a:prstGeom prst="rect">
            <a:avLst/>
          </a:prstGeom>
        </p:spPr>
      </p:pic>
      <p:sp>
        <p:nvSpPr>
          <p:cNvPr id="303" name="robust-dg-label-2">
            <a:extLst>
              <a:ext uri="{FF2B5EF4-FFF2-40B4-BE49-F238E27FC236}">
                <a16:creationId xmlns:a16="http://schemas.microsoft.com/office/drawing/2014/main" id="{EABCCB61-DD70-4B13-B568-08D32F7B173A}"/>
              </a:ext>
            </a:extLst>
          </p:cNvPr>
          <p:cNvSpPr>
            <a:spLocks noGrp="1"/>
          </p:cNvSpPr>
          <p:nvPr/>
        </p:nvSpPr>
        <p:spPr>
          <a:xfrm>
            <a:off x="10153650" y="6515100"/>
            <a:ext cx="571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4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0" b="0" i="0">
                <a:solidFill>
                  <a:srgbClr val="111111"/>
                </a:solidFill>
                <a:cs typeface="Microsoft YaHei"/>
              </a:rPr>
              <a:t>DG2</a:t>
            </a:r>
          </a:p>
          <a:p>
            <a:pPr algn="ctr">
              <a:lnSpc>
                <a:spcPct val="100000"/>
              </a:lnSpc>
              <a:buNone/>
              <a:defRPr sz="94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0" b="0" i="0">
                <a:solidFill>
                  <a:srgbClr val="111111"/>
                </a:solidFill>
                <a:cs typeface="Microsoft YaHei"/>
              </a:rPr>
              <a:t>执行器</a:t>
            </a:r>
          </a:p>
        </p:txBody>
      </p:sp>
      <p:sp>
        <p:nvSpPr>
          <p:cNvPr id="304" name="robust-vref-3">
            <a:extLst>
              <a:ext uri="{FF2B5EF4-FFF2-40B4-BE49-F238E27FC236}">
                <a16:creationId xmlns:a16="http://schemas.microsoft.com/office/drawing/2014/main" id="{E8D1C365-7DDF-4F75-BC56-368ABE1D8AA5}"/>
              </a:ext>
            </a:extLst>
          </p:cNvPr>
          <p:cNvSpPr>
            <a:spLocks noGrp="1"/>
          </p:cNvSpPr>
          <p:nvPr/>
        </p:nvSpPr>
        <p:spPr>
          <a:xfrm>
            <a:off x="10725150" y="5800725"/>
            <a:ext cx="552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6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 i="1">
                <a:solidFill>
                  <a:srgbClr val="06265F"/>
                </a:solidFill>
                <a:cs typeface="Microsoft YaHei"/>
              </a:rPr>
              <a:t>ΔV</a:t>
            </a:r>
            <a:r>
              <a:rPr sz="960" b="0" i="1" baseline="-25000">
                <a:solidFill>
                  <a:srgbClr val="06265F"/>
                </a:solidFill>
                <a:cs typeface="Microsoft YaHei"/>
              </a:rPr>
              <a:t>ref,3</a:t>
            </a:r>
          </a:p>
        </p:txBody>
      </p:sp>
      <p:sp>
        <p:nvSpPr>
          <p:cNvPr id="305" name="robust-rack-down-3-from-anchor-85">
            <a:extLst>
              <a:ext uri="{FF2B5EF4-FFF2-40B4-BE49-F238E27FC236}">
                <a16:creationId xmlns:a16="http://schemas.microsoft.com/office/drawing/2014/main" id="{AC16CF50-FCFB-494D-9BAD-A2442BACFA80}"/>
              </a:ext>
            </a:extLst>
          </p:cNvPr>
          <p:cNvSpPr>
            <a:spLocks noGrp="1"/>
          </p:cNvSpPr>
          <p:nvPr/>
        </p:nvSpPr>
        <p:spPr>
          <a:xfrm>
            <a:off x="10998518" y="57978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06" name="robust-rack-down-3-to-anchor-86">
            <a:extLst>
              <a:ext uri="{FF2B5EF4-FFF2-40B4-BE49-F238E27FC236}">
                <a16:creationId xmlns:a16="http://schemas.microsoft.com/office/drawing/2014/main" id="{4A2C735F-0979-4B32-AAA8-EEEE4C8226D7}"/>
              </a:ext>
            </a:extLst>
          </p:cNvPr>
          <p:cNvSpPr>
            <a:spLocks noGrp="1"/>
          </p:cNvSpPr>
          <p:nvPr/>
        </p:nvSpPr>
        <p:spPr>
          <a:xfrm>
            <a:off x="10998518" y="61026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04" name="robust-rack-down-3"/>
          <p:cNvCxnSpPr>
            <a:stCxn id="305" idx="4"/>
            <a:endCxn id="306" idx="0"/>
          </p:cNvCxnSpPr>
          <p:nvPr/>
        </p:nvCxnSpPr>
        <p:spPr>
          <a:xfrm>
            <a:off x="11001376" y="5803583"/>
            <a:ext cx="0" cy="299085"/>
          </a:xfrm>
          <a:prstGeom prst="straightConnector1">
            <a:avLst/>
          </a:prstGeom>
          <a:ln w="11430" cap="rnd">
            <a:solidFill>
              <a:srgbClr val="0964BE"/>
            </a:solidFill>
            <a:prstDash val="solid"/>
            <a:round/>
            <a:tailEnd type="triangle" w="sm" len="sm"/>
          </a:ln>
        </p:spPr>
      </p:cxnSp>
      <p:pic>
        <p:nvPicPr>
          <p:cNvPr id="705" name="图片 7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17116" y="6105525"/>
            <a:ext cx="368519" cy="419100"/>
          </a:xfrm>
          <a:prstGeom prst="rect">
            <a:avLst/>
          </a:prstGeom>
        </p:spPr>
      </p:pic>
      <p:sp>
        <p:nvSpPr>
          <p:cNvPr id="309" name="robust-dg-label-3">
            <a:extLst>
              <a:ext uri="{FF2B5EF4-FFF2-40B4-BE49-F238E27FC236}">
                <a16:creationId xmlns:a16="http://schemas.microsoft.com/office/drawing/2014/main" id="{71464DB8-28F0-4B7A-801A-A1BF6D75A0A1}"/>
              </a:ext>
            </a:extLst>
          </p:cNvPr>
          <p:cNvSpPr>
            <a:spLocks noGrp="1"/>
          </p:cNvSpPr>
          <p:nvPr/>
        </p:nvSpPr>
        <p:spPr>
          <a:xfrm>
            <a:off x="10715625" y="6515100"/>
            <a:ext cx="571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4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0" b="0" i="0">
                <a:solidFill>
                  <a:srgbClr val="111111"/>
                </a:solidFill>
                <a:cs typeface="Microsoft YaHei"/>
              </a:rPr>
              <a:t>DG3</a:t>
            </a:r>
          </a:p>
          <a:p>
            <a:pPr algn="ctr">
              <a:lnSpc>
                <a:spcPct val="100000"/>
              </a:lnSpc>
              <a:buNone/>
              <a:defRPr sz="94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0" b="0" i="0">
                <a:solidFill>
                  <a:srgbClr val="111111"/>
                </a:solidFill>
                <a:cs typeface="Microsoft YaHei"/>
              </a:rPr>
              <a:t>执行器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0" name="OfficeEq-Control-Law">
                <a:extLst>
                  <a:ext uri="{FF2B5EF4-FFF2-40B4-BE49-F238E27FC236}">
                    <a16:creationId xmlns:a16="http://schemas.microsoft.com/office/drawing/2014/main" id="{49A38A9E-89F8-4F35-A6D7-4C3BA1D196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924925" y="6934200"/>
                <a:ext cx="1952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9525" tIns="0" rIns="9525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310" b="0" i="1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bSupPr>
                        <m:e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𝑢</m:t>
                          </m:r>
                        </m:e>
                        <m:sub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𝑖</m:t>
                          </m:r>
                        </m:sub>
                        <m:sup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  <m:r>
                        <a:rPr lang="pl-PL" sz="1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=</m:t>
                      </m:r>
                      <m:sSub>
                        <m:sSubPr>
                          <m:ctrlP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bPr>
                        <m:e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𝑀</m:t>
                          </m:r>
                        </m:e>
                        <m:sub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sSupPr>
                        <m:e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𝑋</m:t>
                          </m:r>
                        </m:e>
                        <m:sup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−1</m:t>
                          </m:r>
                        </m:sup>
                      </m:sSup>
                      <m:r>
                        <a:rPr lang="pl-PL" sz="1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Microsoft YaHei"/>
                        </a:rPr>
                        <m:t>𝑧</m:t>
                      </m:r>
                      <m:d>
                        <m:dPr>
                          <m:ctrlP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</m:ctrlPr>
                        </m:dPr>
                        <m:e>
                          <m:r>
                            <a:rPr lang="pl-PL" sz="1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Microsoft YaHei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310" name="OfficeEq-Control-Law">
                <a:extLst>
                  <a:ext uri="{FF2B5EF4-FFF2-40B4-BE49-F238E27FC236}">
                    <a16:creationId xmlns:a16="http://schemas.microsoft.com/office/drawing/2014/main" id="{49A38A9E-89F8-4F35-A6D7-4C3BA1D19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925" y="6934200"/>
                <a:ext cx="1952625" cy="285750"/>
              </a:xfrm>
              <a:prstGeom prst="rect">
                <a:avLst/>
              </a:prstGeom>
              <a:blipFill>
                <a:blip r:embed="rId26"/>
                <a:stretch>
                  <a:fillRect t="-4348" b="-19565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schedule-command-from-anchor-87">
            <a:extLst>
              <a:ext uri="{FF2B5EF4-FFF2-40B4-BE49-F238E27FC236}">
                <a16:creationId xmlns:a16="http://schemas.microsoft.com/office/drawing/2014/main" id="{BFA80584-18F0-4BD8-87E9-2D0AFB120102}"/>
              </a:ext>
            </a:extLst>
          </p:cNvPr>
          <p:cNvSpPr>
            <a:spLocks noGrp="1"/>
          </p:cNvSpPr>
          <p:nvPr/>
        </p:nvSpPr>
        <p:spPr>
          <a:xfrm>
            <a:off x="8045768" y="62169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12" name="schedule-command-to-anchor-88">
            <a:extLst>
              <a:ext uri="{FF2B5EF4-FFF2-40B4-BE49-F238E27FC236}">
                <a16:creationId xmlns:a16="http://schemas.microsoft.com/office/drawing/2014/main" id="{2DF1FCD9-B9DF-4162-B4B9-AE4FD1CFAD70}"/>
              </a:ext>
            </a:extLst>
          </p:cNvPr>
          <p:cNvSpPr>
            <a:spLocks noGrp="1"/>
          </p:cNvSpPr>
          <p:nvPr/>
        </p:nvSpPr>
        <p:spPr>
          <a:xfrm>
            <a:off x="6617018" y="62169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10" name="schedule-command"/>
          <p:cNvCxnSpPr>
            <a:stCxn id="311" idx="2"/>
            <a:endCxn id="312" idx="6"/>
          </p:cNvCxnSpPr>
          <p:nvPr/>
        </p:nvCxnSpPr>
        <p:spPr>
          <a:xfrm flipH="1">
            <a:off x="6622733" y="6219825"/>
            <a:ext cx="1423035" cy="0"/>
          </a:xfrm>
          <a:prstGeom prst="straightConnector1">
            <a:avLst/>
          </a:prstGeom>
          <a:ln w="21908" cap="rnd">
            <a:solidFill>
              <a:srgbClr val="07672D"/>
            </a:solidFill>
            <a:prstDash val="dash"/>
            <a:round/>
            <a:tailEnd type="triangle" w="med" len="med"/>
          </a:ln>
        </p:spPr>
      </p:cxnSp>
      <p:sp>
        <p:nvSpPr>
          <p:cNvPr id="314" name="schedule-command-label">
            <a:extLst>
              <a:ext uri="{FF2B5EF4-FFF2-40B4-BE49-F238E27FC236}">
                <a16:creationId xmlns:a16="http://schemas.microsoft.com/office/drawing/2014/main" id="{CA8FFC82-E0E0-48ED-8DC8-6EE236D8DB86}"/>
              </a:ext>
            </a:extLst>
          </p:cNvPr>
          <p:cNvSpPr>
            <a:spLocks noGrp="1"/>
          </p:cNvSpPr>
          <p:nvPr/>
        </p:nvSpPr>
        <p:spPr>
          <a:xfrm>
            <a:off x="6772275" y="5819775"/>
            <a:ext cx="125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1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 i="0">
                <a:solidFill>
                  <a:srgbClr val="07672D"/>
                </a:solidFill>
                <a:cs typeface="Microsoft YaHei"/>
              </a:rPr>
              <a:t>调度命令 α</a:t>
            </a:r>
            <a:r>
              <a:rPr sz="1110" b="1" i="0" baseline="-25000">
                <a:solidFill>
                  <a:srgbClr val="07672D"/>
                </a:solidFill>
                <a:cs typeface="Microsoft YaHei"/>
              </a:rPr>
              <a:t>i</a:t>
            </a:r>
            <a:r>
              <a:rPr sz="1110" b="1" i="0">
                <a:solidFill>
                  <a:srgbClr val="07672D"/>
                </a:solidFill>
                <a:cs typeface="Microsoft YaHei"/>
              </a:rPr>
              <a:t>(k)</a:t>
            </a:r>
          </a:p>
        </p:txBody>
      </p:sp>
      <p:sp>
        <p:nvSpPr>
          <p:cNvPr id="315" name="schedule-channel-label">
            <a:extLst>
              <a:ext uri="{FF2B5EF4-FFF2-40B4-BE49-F238E27FC236}">
                <a16:creationId xmlns:a16="http://schemas.microsoft.com/office/drawing/2014/main" id="{BED84637-5E2D-4D6E-9DF3-FC4CDE6E1330}"/>
              </a:ext>
            </a:extLst>
          </p:cNvPr>
          <p:cNvSpPr>
            <a:spLocks noGrp="1"/>
          </p:cNvSpPr>
          <p:nvPr/>
        </p:nvSpPr>
        <p:spPr>
          <a:xfrm>
            <a:off x="6791325" y="6343650"/>
            <a:ext cx="1200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1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 i="0">
                <a:solidFill>
                  <a:srgbClr val="0964BE"/>
                </a:solidFill>
                <a:cs typeface="Microsoft YaHei"/>
              </a:rPr>
              <a:t>选定时延信道</a:t>
            </a:r>
          </a:p>
        </p:txBody>
      </p:sp>
      <p:sp>
        <p:nvSpPr>
          <p:cNvPr id="316" name="key-voltage-card">
            <a:extLst>
              <a:ext uri="{FF2B5EF4-FFF2-40B4-BE49-F238E27FC236}">
                <a16:creationId xmlns:a16="http://schemas.microsoft.com/office/drawing/2014/main" id="{AD32E4AF-EA6C-4419-8BE4-58BFFE18352B}"/>
              </a:ext>
            </a:extLst>
          </p:cNvPr>
          <p:cNvSpPr>
            <a:spLocks noGrp="1"/>
          </p:cNvSpPr>
          <p:nvPr/>
        </p:nvSpPr>
        <p:spPr>
          <a:xfrm>
            <a:off x="11953875" y="1466850"/>
            <a:ext cx="2447925" cy="552450"/>
          </a:xfrm>
          <a:prstGeom prst="roundRect">
            <a:avLst>
              <a:gd name="adj" fmla="val 13793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714" name="图片 713"/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12026611" y="1504950"/>
            <a:ext cx="597477" cy="476250"/>
          </a:xfrm>
          <a:prstGeom prst="rect">
            <a:avLst/>
          </a:prstGeom>
        </p:spPr>
      </p:pic>
      <p:sp>
        <p:nvSpPr>
          <p:cNvPr id="318" name="key-voltage-label">
            <a:extLst>
              <a:ext uri="{FF2B5EF4-FFF2-40B4-BE49-F238E27FC236}">
                <a16:creationId xmlns:a16="http://schemas.microsoft.com/office/drawing/2014/main" id="{D94EE1AD-A51A-4DA6-B808-8B4F893C54FA}"/>
              </a:ext>
            </a:extLst>
          </p:cNvPr>
          <p:cNvSpPr>
            <a:spLocks noGrp="1"/>
          </p:cNvSpPr>
          <p:nvPr/>
        </p:nvSpPr>
        <p:spPr>
          <a:xfrm>
            <a:off x="12696825" y="1495425"/>
            <a:ext cx="1628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关键母线电压 ΔV</a:t>
            </a:r>
            <a:r>
              <a:rPr sz="1360" b="1" i="0" baseline="-25000">
                <a:solidFill>
                  <a:srgbClr val="111111"/>
                </a:solidFill>
                <a:cs typeface="Microsoft YaHei"/>
              </a:rPr>
              <a:t>c</a:t>
            </a:r>
          </a:p>
        </p:txBody>
      </p:sp>
      <p:sp>
        <p:nvSpPr>
          <p:cNvPr id="319" name="key-dgref-card">
            <a:extLst>
              <a:ext uri="{FF2B5EF4-FFF2-40B4-BE49-F238E27FC236}">
                <a16:creationId xmlns:a16="http://schemas.microsoft.com/office/drawing/2014/main" id="{DD4CC495-89B4-4DA1-9F87-85DB200EC769}"/>
              </a:ext>
            </a:extLst>
          </p:cNvPr>
          <p:cNvSpPr>
            <a:spLocks noGrp="1"/>
          </p:cNvSpPr>
          <p:nvPr/>
        </p:nvSpPr>
        <p:spPr>
          <a:xfrm>
            <a:off x="11953875" y="2057400"/>
            <a:ext cx="2447925" cy="552450"/>
          </a:xfrm>
          <a:prstGeom prst="roundRect">
            <a:avLst>
              <a:gd name="adj" fmla="val 13793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717" name="图片 716"/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12087225" y="2095500"/>
            <a:ext cx="476250" cy="476250"/>
          </a:xfrm>
          <a:prstGeom prst="rect">
            <a:avLst/>
          </a:prstGeom>
        </p:spPr>
      </p:pic>
      <p:sp>
        <p:nvSpPr>
          <p:cNvPr id="321" name="key-dgref-label">
            <a:extLst>
              <a:ext uri="{FF2B5EF4-FFF2-40B4-BE49-F238E27FC236}">
                <a16:creationId xmlns:a16="http://schemas.microsoft.com/office/drawing/2014/main" id="{4B982119-FFA7-405A-8799-0770787B0913}"/>
              </a:ext>
            </a:extLst>
          </p:cNvPr>
          <p:cNvSpPr>
            <a:spLocks noGrp="1"/>
          </p:cNvSpPr>
          <p:nvPr/>
        </p:nvSpPr>
        <p:spPr>
          <a:xfrm>
            <a:off x="12696825" y="2085975"/>
            <a:ext cx="1628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DG电压参考 ΔV</a:t>
            </a:r>
            <a:r>
              <a:rPr sz="1360" b="1" i="0" baseline="-25000">
                <a:solidFill>
                  <a:srgbClr val="111111"/>
                </a:solidFill>
                <a:cs typeface="Microsoft YaHei"/>
              </a:rPr>
              <a:t>ref</a:t>
            </a:r>
          </a:p>
        </p:txBody>
      </p:sp>
      <p:sp>
        <p:nvSpPr>
          <p:cNvPr id="322" name="key-uncertain-card">
            <a:extLst>
              <a:ext uri="{FF2B5EF4-FFF2-40B4-BE49-F238E27FC236}">
                <a16:creationId xmlns:a16="http://schemas.microsoft.com/office/drawing/2014/main" id="{EE3CC961-162B-4378-BF0C-11408790868D}"/>
              </a:ext>
            </a:extLst>
          </p:cNvPr>
          <p:cNvSpPr>
            <a:spLocks noGrp="1"/>
          </p:cNvSpPr>
          <p:nvPr/>
        </p:nvSpPr>
        <p:spPr>
          <a:xfrm>
            <a:off x="11953875" y="2647950"/>
            <a:ext cx="2447925" cy="552450"/>
          </a:xfrm>
          <a:prstGeom prst="roundRect">
            <a:avLst>
              <a:gd name="adj" fmla="val 13793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720" name="图片 719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2082895" y="2686050"/>
            <a:ext cx="484909" cy="476250"/>
          </a:xfrm>
          <a:prstGeom prst="rect">
            <a:avLst/>
          </a:prstGeom>
        </p:spPr>
      </p:pic>
      <p:sp>
        <p:nvSpPr>
          <p:cNvPr id="324" name="key-uncertain-label">
            <a:extLst>
              <a:ext uri="{FF2B5EF4-FFF2-40B4-BE49-F238E27FC236}">
                <a16:creationId xmlns:a16="http://schemas.microsoft.com/office/drawing/2014/main" id="{2A53B951-D4A7-47DF-A4E9-AA562BA70E7F}"/>
              </a:ext>
            </a:extLst>
          </p:cNvPr>
          <p:cNvSpPr>
            <a:spLocks noGrp="1"/>
          </p:cNvSpPr>
          <p:nvPr/>
        </p:nvSpPr>
        <p:spPr>
          <a:xfrm>
            <a:off x="12696825" y="2676525"/>
            <a:ext cx="1628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有界参数不确定性</a:t>
            </a:r>
          </a:p>
        </p:txBody>
      </p:sp>
      <p:sp>
        <p:nvSpPr>
          <p:cNvPr id="325" name="key-delay-card">
            <a:extLst>
              <a:ext uri="{FF2B5EF4-FFF2-40B4-BE49-F238E27FC236}">
                <a16:creationId xmlns:a16="http://schemas.microsoft.com/office/drawing/2014/main" id="{6C0F42A7-392D-495F-A341-E646D0FE0019}"/>
              </a:ext>
            </a:extLst>
          </p:cNvPr>
          <p:cNvSpPr>
            <a:spLocks noGrp="1"/>
          </p:cNvSpPr>
          <p:nvPr/>
        </p:nvSpPr>
        <p:spPr>
          <a:xfrm>
            <a:off x="11953875" y="3238500"/>
            <a:ext cx="2447925" cy="552450"/>
          </a:xfrm>
          <a:prstGeom prst="roundRect">
            <a:avLst>
              <a:gd name="adj" fmla="val 13793"/>
            </a:avLst>
          </a:prstGeom>
          <a:solidFill>
            <a:srgbClr val="FEFEFE"/>
          </a:solidFill>
          <a:ln w="8573">
            <a:solidFill>
              <a:srgbClr val="77A8E4"/>
            </a:solidFill>
            <a:prstDash val="solid"/>
          </a:ln>
        </p:spPr>
      </p:sp>
      <p:pic>
        <p:nvPicPr>
          <p:cNvPr id="723" name="图片 722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78870" y="3276600"/>
            <a:ext cx="492961" cy="476250"/>
          </a:xfrm>
          <a:prstGeom prst="rect">
            <a:avLst/>
          </a:prstGeom>
        </p:spPr>
      </p:pic>
      <p:sp>
        <p:nvSpPr>
          <p:cNvPr id="327" name="key-delay-label">
            <a:extLst>
              <a:ext uri="{FF2B5EF4-FFF2-40B4-BE49-F238E27FC236}">
                <a16:creationId xmlns:a16="http://schemas.microsoft.com/office/drawing/2014/main" id="{254E0DD7-180D-4A04-B238-2CF4215FEB8E}"/>
              </a:ext>
            </a:extLst>
          </p:cNvPr>
          <p:cNvSpPr>
            <a:spLocks noGrp="1"/>
          </p:cNvSpPr>
          <p:nvPr/>
        </p:nvSpPr>
        <p:spPr>
          <a:xfrm>
            <a:off x="12696825" y="3267075"/>
            <a:ext cx="1628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多时延切换子系统</a:t>
            </a:r>
          </a:p>
        </p:txBody>
      </p:sp>
      <p:sp>
        <p:nvSpPr>
          <p:cNvPr id="328" name="guarantee-recovery-card">
            <a:extLst>
              <a:ext uri="{FF2B5EF4-FFF2-40B4-BE49-F238E27FC236}">
                <a16:creationId xmlns:a16="http://schemas.microsoft.com/office/drawing/2014/main" id="{2CC4CF33-AF1E-446F-8B62-696A2774A330}"/>
              </a:ext>
            </a:extLst>
          </p:cNvPr>
          <p:cNvSpPr>
            <a:spLocks noGrp="1"/>
          </p:cNvSpPr>
          <p:nvPr/>
        </p:nvSpPr>
        <p:spPr>
          <a:xfrm>
            <a:off x="11953875" y="4524375"/>
            <a:ext cx="2447925" cy="552450"/>
          </a:xfrm>
          <a:prstGeom prst="roundRect">
            <a:avLst>
              <a:gd name="adj" fmla="val 13793"/>
            </a:avLst>
          </a:prstGeom>
          <a:solidFill>
            <a:srgbClr val="FEFEFE"/>
          </a:solidFill>
          <a:ln w="8573">
            <a:solidFill>
              <a:srgbClr val="F0935F"/>
            </a:solidFill>
            <a:prstDash val="solid"/>
          </a:ln>
        </p:spPr>
      </p:sp>
      <p:pic>
        <p:nvPicPr>
          <p:cNvPr id="726" name="图片 725"/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12079014" y="4562475"/>
            <a:ext cx="492672" cy="476250"/>
          </a:xfrm>
          <a:prstGeom prst="rect">
            <a:avLst/>
          </a:prstGeom>
        </p:spPr>
      </p:pic>
      <p:sp>
        <p:nvSpPr>
          <p:cNvPr id="330" name="guarantee-recovery-label">
            <a:extLst>
              <a:ext uri="{FF2B5EF4-FFF2-40B4-BE49-F238E27FC236}">
                <a16:creationId xmlns:a16="http://schemas.microsoft.com/office/drawing/2014/main" id="{CEF8AED3-8703-49B3-B271-179FA06D7741}"/>
              </a:ext>
            </a:extLst>
          </p:cNvPr>
          <p:cNvSpPr>
            <a:spLocks noGrp="1"/>
          </p:cNvSpPr>
          <p:nvPr/>
        </p:nvSpPr>
        <p:spPr>
          <a:xfrm>
            <a:off x="12696825" y="4552950"/>
            <a:ext cx="1628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关键母线电压恢复</a:t>
            </a:r>
          </a:p>
        </p:txBody>
      </p:sp>
      <p:sp>
        <p:nvSpPr>
          <p:cNvPr id="331" name="guarantee-stability-card">
            <a:extLst>
              <a:ext uri="{FF2B5EF4-FFF2-40B4-BE49-F238E27FC236}">
                <a16:creationId xmlns:a16="http://schemas.microsoft.com/office/drawing/2014/main" id="{3D20109D-3B68-407F-88F2-EDA3C4D9ABC5}"/>
              </a:ext>
            </a:extLst>
          </p:cNvPr>
          <p:cNvSpPr>
            <a:spLocks noGrp="1"/>
          </p:cNvSpPr>
          <p:nvPr/>
        </p:nvSpPr>
        <p:spPr>
          <a:xfrm>
            <a:off x="11953875" y="5133975"/>
            <a:ext cx="2447925" cy="552450"/>
          </a:xfrm>
          <a:prstGeom prst="roundRect">
            <a:avLst>
              <a:gd name="adj" fmla="val 13793"/>
            </a:avLst>
          </a:prstGeom>
          <a:solidFill>
            <a:srgbClr val="FEFEFE"/>
          </a:solidFill>
          <a:ln w="8573">
            <a:solidFill>
              <a:srgbClr val="F0935F"/>
            </a:solidFill>
            <a:prstDash val="solid"/>
          </a:ln>
        </p:spPr>
      </p:sp>
      <p:pic>
        <p:nvPicPr>
          <p:cNvPr id="729" name="图片 728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12099982" y="5172075"/>
            <a:ext cx="450737" cy="476250"/>
          </a:xfrm>
          <a:prstGeom prst="rect">
            <a:avLst/>
          </a:prstGeom>
        </p:spPr>
      </p:pic>
      <p:sp>
        <p:nvSpPr>
          <p:cNvPr id="333" name="guarantee-stability-label">
            <a:extLst>
              <a:ext uri="{FF2B5EF4-FFF2-40B4-BE49-F238E27FC236}">
                <a16:creationId xmlns:a16="http://schemas.microsoft.com/office/drawing/2014/main" id="{378F5D41-4CF0-4D45-A9F3-571021A6DE39}"/>
              </a:ext>
            </a:extLst>
          </p:cNvPr>
          <p:cNvSpPr>
            <a:spLocks noGrp="1"/>
          </p:cNvSpPr>
          <p:nvPr/>
        </p:nvSpPr>
        <p:spPr>
          <a:xfrm>
            <a:off x="12696825" y="5162550"/>
            <a:ext cx="1628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鲁棒渐近稳定</a:t>
            </a:r>
          </a:p>
        </p:txBody>
      </p:sp>
      <p:sp>
        <p:nvSpPr>
          <p:cNvPr id="334" name="guarantee-hinf-card">
            <a:extLst>
              <a:ext uri="{FF2B5EF4-FFF2-40B4-BE49-F238E27FC236}">
                <a16:creationId xmlns:a16="http://schemas.microsoft.com/office/drawing/2014/main" id="{1B4F95D6-FDEA-47BC-BF02-548463067250}"/>
              </a:ext>
            </a:extLst>
          </p:cNvPr>
          <p:cNvSpPr>
            <a:spLocks noGrp="1"/>
          </p:cNvSpPr>
          <p:nvPr/>
        </p:nvSpPr>
        <p:spPr>
          <a:xfrm>
            <a:off x="11953875" y="5743575"/>
            <a:ext cx="2447925" cy="561975"/>
          </a:xfrm>
          <a:prstGeom prst="roundRect">
            <a:avLst>
              <a:gd name="adj" fmla="val 13559"/>
            </a:avLst>
          </a:prstGeom>
          <a:solidFill>
            <a:srgbClr val="FEFEFE"/>
          </a:solidFill>
          <a:ln w="8573">
            <a:solidFill>
              <a:srgbClr val="F0935F"/>
            </a:solidFill>
            <a:prstDash val="solid"/>
          </a:ln>
        </p:spPr>
      </p:sp>
      <p:sp>
        <p:nvSpPr>
          <p:cNvPr id="335" name="guarantee-hinf-icon">
            <a:extLst>
              <a:ext uri="{FF2B5EF4-FFF2-40B4-BE49-F238E27FC236}">
                <a16:creationId xmlns:a16="http://schemas.microsoft.com/office/drawing/2014/main" id="{2F44C3D4-070A-49CD-B815-AD8E575E8C3A}"/>
              </a:ext>
            </a:extLst>
          </p:cNvPr>
          <p:cNvSpPr>
            <a:spLocks noGrp="1"/>
          </p:cNvSpPr>
          <p:nvPr/>
        </p:nvSpPr>
        <p:spPr>
          <a:xfrm>
            <a:off x="12049125" y="5772150"/>
            <a:ext cx="590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0" i="1">
                <a:solidFill>
                  <a:srgbClr val="06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 i="1">
                <a:solidFill>
                  <a:srgbClr val="06265F"/>
                </a:solidFill>
                <a:cs typeface="Microsoft YaHei"/>
              </a:rPr>
              <a:t>H</a:t>
            </a:r>
            <a:r>
              <a:rPr sz="2200" b="0" i="1" baseline="-25000">
                <a:solidFill>
                  <a:srgbClr val="06265F"/>
                </a:solidFill>
                <a:cs typeface="Microsoft YaHei"/>
              </a:rPr>
              <a:t>∞</a:t>
            </a:r>
          </a:p>
        </p:txBody>
      </p:sp>
      <p:sp>
        <p:nvSpPr>
          <p:cNvPr id="336" name="guarantee-hinf-label">
            <a:extLst>
              <a:ext uri="{FF2B5EF4-FFF2-40B4-BE49-F238E27FC236}">
                <a16:creationId xmlns:a16="http://schemas.microsoft.com/office/drawing/2014/main" id="{C322ED5F-F907-4514-8ADB-1111F3F992EA}"/>
              </a:ext>
            </a:extLst>
          </p:cNvPr>
          <p:cNvSpPr>
            <a:spLocks noGrp="1"/>
          </p:cNvSpPr>
          <p:nvPr/>
        </p:nvSpPr>
        <p:spPr>
          <a:xfrm>
            <a:off x="12687300" y="57721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H</a:t>
            </a:r>
            <a:r>
              <a:rPr sz="1360" b="1" i="0" baseline="-25000">
                <a:solidFill>
                  <a:srgbClr val="111111"/>
                </a:solidFill>
                <a:cs typeface="Microsoft YaHei"/>
              </a:rPr>
              <a:t>∞</a:t>
            </a:r>
            <a:r>
              <a:rPr sz="1360" b="1" i="0">
                <a:solidFill>
                  <a:srgbClr val="111111"/>
                </a:solidFill>
                <a:cs typeface="Microsoft YaHei"/>
              </a:rPr>
              <a:t> 干扰抑制</a:t>
            </a:r>
          </a:p>
        </p:txBody>
      </p:sp>
      <p:sp>
        <p:nvSpPr>
          <p:cNvPr id="337" name="guarantee-cost-card">
            <a:extLst>
              <a:ext uri="{FF2B5EF4-FFF2-40B4-BE49-F238E27FC236}">
                <a16:creationId xmlns:a16="http://schemas.microsoft.com/office/drawing/2014/main" id="{35F6A792-EC3B-48D7-B860-22C914A03677}"/>
              </a:ext>
            </a:extLst>
          </p:cNvPr>
          <p:cNvSpPr>
            <a:spLocks noGrp="1"/>
          </p:cNvSpPr>
          <p:nvPr/>
        </p:nvSpPr>
        <p:spPr>
          <a:xfrm>
            <a:off x="11953875" y="6362700"/>
            <a:ext cx="2447925" cy="552450"/>
          </a:xfrm>
          <a:prstGeom prst="roundRect">
            <a:avLst>
              <a:gd name="adj" fmla="val 13793"/>
            </a:avLst>
          </a:prstGeom>
          <a:solidFill>
            <a:srgbClr val="FEFEFE"/>
          </a:solidFill>
          <a:ln w="8573">
            <a:solidFill>
              <a:srgbClr val="F0935F"/>
            </a:solidFill>
            <a:prstDash val="solid"/>
          </a:ln>
        </p:spPr>
      </p:sp>
      <p:pic>
        <p:nvPicPr>
          <p:cNvPr id="735" name="图片 734"/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12113683" y="6400800"/>
            <a:ext cx="423333" cy="476250"/>
          </a:xfrm>
          <a:prstGeom prst="rect">
            <a:avLst/>
          </a:prstGeom>
        </p:spPr>
      </p:pic>
      <p:sp>
        <p:nvSpPr>
          <p:cNvPr id="339" name="guarantee-cost-label">
            <a:extLst>
              <a:ext uri="{FF2B5EF4-FFF2-40B4-BE49-F238E27FC236}">
                <a16:creationId xmlns:a16="http://schemas.microsoft.com/office/drawing/2014/main" id="{6BA6931D-21A6-46D4-8794-D5DC830B8DB2}"/>
              </a:ext>
            </a:extLst>
          </p:cNvPr>
          <p:cNvSpPr>
            <a:spLocks noGrp="1"/>
          </p:cNvSpPr>
          <p:nvPr/>
        </p:nvSpPr>
        <p:spPr>
          <a:xfrm>
            <a:off x="12696825" y="6391275"/>
            <a:ext cx="1628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6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0" b="1" i="0">
                <a:solidFill>
                  <a:srgbClr val="111111"/>
                </a:solidFill>
                <a:cs typeface="Microsoft YaHei"/>
              </a:rPr>
              <a:t>控制代价优化</a:t>
            </a:r>
          </a:p>
        </p:txBody>
      </p:sp>
      <p:sp>
        <p:nvSpPr>
          <p:cNvPr id="340" name="validation-panel">
            <a:extLst>
              <a:ext uri="{FF2B5EF4-FFF2-40B4-BE49-F238E27FC236}">
                <a16:creationId xmlns:a16="http://schemas.microsoft.com/office/drawing/2014/main" id="{3F95E563-6A15-4822-B2B6-029D07877C85}"/>
              </a:ext>
            </a:extLst>
          </p:cNvPr>
          <p:cNvSpPr>
            <a:spLocks noGrp="1"/>
          </p:cNvSpPr>
          <p:nvPr/>
        </p:nvSpPr>
        <p:spPr>
          <a:xfrm>
            <a:off x="3276600" y="7534275"/>
            <a:ext cx="11239500" cy="145732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D656A"/>
            </a:solidFill>
            <a:prstDash val="solid"/>
          </a:ln>
        </p:spPr>
      </p:sp>
      <p:sp>
        <p:nvSpPr>
          <p:cNvPr id="341" name="validation-red-band">
            <a:extLst>
              <a:ext uri="{FF2B5EF4-FFF2-40B4-BE49-F238E27FC236}">
                <a16:creationId xmlns:a16="http://schemas.microsoft.com/office/drawing/2014/main" id="{28536662-6EE0-489C-A2B5-42598EC2B1B0}"/>
              </a:ext>
            </a:extLst>
          </p:cNvPr>
          <p:cNvSpPr>
            <a:spLocks noGrp="1"/>
          </p:cNvSpPr>
          <p:nvPr/>
        </p:nvSpPr>
        <p:spPr>
          <a:xfrm>
            <a:off x="3286125" y="7543800"/>
            <a:ext cx="11220450" cy="247650"/>
          </a:xfrm>
          <a:prstGeom prst="rect">
            <a:avLst/>
          </a:prstGeom>
          <a:solidFill>
            <a:srgbClr val="D51019"/>
          </a:solidFill>
          <a:ln w="0">
            <a:noFill/>
            <a:prstDash val="solid"/>
          </a:ln>
        </p:spPr>
      </p:sp>
      <p:sp>
        <p:nvSpPr>
          <p:cNvPr id="342" name="validation-heading">
            <a:extLst>
              <a:ext uri="{FF2B5EF4-FFF2-40B4-BE49-F238E27FC236}">
                <a16:creationId xmlns:a16="http://schemas.microsoft.com/office/drawing/2014/main" id="{98FBD58E-AAB9-4C94-A70B-13ADD0C5DA3B}"/>
              </a:ext>
            </a:extLst>
          </p:cNvPr>
          <p:cNvSpPr>
            <a:spLocks noGrp="1"/>
          </p:cNvSpPr>
          <p:nvPr/>
        </p:nvSpPr>
        <p:spPr>
          <a:xfrm>
            <a:off x="6181725" y="7524750"/>
            <a:ext cx="5429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3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30" b="1" i="0">
                <a:solidFill>
                  <a:srgbClr val="FFFFFF"/>
                </a:solidFill>
                <a:cs typeface="Microsoft YaHei"/>
              </a:rPr>
              <a:t>43母线系统仿真验证</a:t>
            </a:r>
          </a:p>
        </p:txBody>
      </p:sp>
      <p:sp>
        <p:nvSpPr>
          <p:cNvPr id="343" name="validation-card-1">
            <a:extLst>
              <a:ext uri="{FF2B5EF4-FFF2-40B4-BE49-F238E27FC236}">
                <a16:creationId xmlns:a16="http://schemas.microsoft.com/office/drawing/2014/main" id="{16436EED-17CC-4E7B-BDE2-A6AAE8EA8035}"/>
              </a:ext>
            </a:extLst>
          </p:cNvPr>
          <p:cNvSpPr>
            <a:spLocks noGrp="1"/>
          </p:cNvSpPr>
          <p:nvPr/>
        </p:nvSpPr>
        <p:spPr>
          <a:xfrm>
            <a:off x="3400425" y="7886700"/>
            <a:ext cx="2466975" cy="1009650"/>
          </a:xfrm>
          <a:prstGeom prst="roundRect">
            <a:avLst>
              <a:gd name="adj" fmla="val 7547"/>
            </a:avLst>
          </a:prstGeom>
          <a:solidFill>
            <a:srgbClr val="FEFEFE"/>
          </a:solidFill>
          <a:ln w="8573">
            <a:solidFill>
              <a:srgbClr val="0964BE"/>
            </a:solidFill>
            <a:prstDash val="solid"/>
          </a:ln>
        </p:spPr>
      </p:sp>
      <p:sp>
        <p:nvSpPr>
          <p:cNvPr id="344" name="validation-title-1">
            <a:extLst>
              <a:ext uri="{FF2B5EF4-FFF2-40B4-BE49-F238E27FC236}">
                <a16:creationId xmlns:a16="http://schemas.microsoft.com/office/drawing/2014/main" id="{66E74846-4F53-49B0-A4EA-A74790CCEC0A}"/>
              </a:ext>
            </a:extLst>
          </p:cNvPr>
          <p:cNvSpPr>
            <a:spLocks noGrp="1"/>
          </p:cNvSpPr>
          <p:nvPr/>
        </p:nvSpPr>
        <p:spPr>
          <a:xfrm>
            <a:off x="4029075" y="7905750"/>
            <a:ext cx="17430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0" b="1" i="0">
                <a:solidFill>
                  <a:srgbClr val="096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0" b="1" i="0">
                <a:solidFill>
                  <a:srgbClr val="0964BE"/>
                </a:solidFill>
                <a:cs typeface="Microsoft YaHei"/>
              </a:rPr>
              <a:t>场景1：电压扰动</a:t>
            </a:r>
          </a:p>
        </p:txBody>
      </p:sp>
      <p:sp>
        <p:nvSpPr>
          <p:cNvPr id="345" name="validation-card-2">
            <a:extLst>
              <a:ext uri="{FF2B5EF4-FFF2-40B4-BE49-F238E27FC236}">
                <a16:creationId xmlns:a16="http://schemas.microsoft.com/office/drawing/2014/main" id="{617A2F9F-9CA1-4BB1-A5B2-3988BBA22604}"/>
              </a:ext>
            </a:extLst>
          </p:cNvPr>
          <p:cNvSpPr>
            <a:spLocks noGrp="1"/>
          </p:cNvSpPr>
          <p:nvPr/>
        </p:nvSpPr>
        <p:spPr>
          <a:xfrm>
            <a:off x="5972175" y="7886700"/>
            <a:ext cx="2638425" cy="1009650"/>
          </a:xfrm>
          <a:prstGeom prst="roundRect">
            <a:avLst>
              <a:gd name="adj" fmla="val 7547"/>
            </a:avLst>
          </a:prstGeom>
          <a:solidFill>
            <a:srgbClr val="F6FAF7"/>
          </a:solidFill>
          <a:ln w="8573">
            <a:solidFill>
              <a:srgbClr val="07672D"/>
            </a:solidFill>
            <a:prstDash val="solid"/>
          </a:ln>
        </p:spPr>
      </p:sp>
      <p:sp>
        <p:nvSpPr>
          <p:cNvPr id="346" name="validation-title-2">
            <a:extLst>
              <a:ext uri="{FF2B5EF4-FFF2-40B4-BE49-F238E27FC236}">
                <a16:creationId xmlns:a16="http://schemas.microsoft.com/office/drawing/2014/main" id="{302E582C-A68E-4235-8D58-4734DAD49BEA}"/>
              </a:ext>
            </a:extLst>
          </p:cNvPr>
          <p:cNvSpPr>
            <a:spLocks noGrp="1"/>
          </p:cNvSpPr>
          <p:nvPr/>
        </p:nvSpPr>
        <p:spPr>
          <a:xfrm>
            <a:off x="6924675" y="7905750"/>
            <a:ext cx="15906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0" b="1" i="0">
                <a:solidFill>
                  <a:srgbClr val="0767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0" b="1" i="0">
                <a:solidFill>
                  <a:srgbClr val="07672D"/>
                </a:solidFill>
                <a:cs typeface="Microsoft YaHei"/>
              </a:rPr>
              <a:t>场景2：信道故障</a:t>
            </a:r>
          </a:p>
        </p:txBody>
      </p:sp>
      <p:sp>
        <p:nvSpPr>
          <p:cNvPr id="347" name="validation-card-3">
            <a:extLst>
              <a:ext uri="{FF2B5EF4-FFF2-40B4-BE49-F238E27FC236}">
                <a16:creationId xmlns:a16="http://schemas.microsoft.com/office/drawing/2014/main" id="{997E3618-D84E-43F9-87C9-CA2FE9BC514B}"/>
              </a:ext>
            </a:extLst>
          </p:cNvPr>
          <p:cNvSpPr>
            <a:spLocks noGrp="1"/>
          </p:cNvSpPr>
          <p:nvPr/>
        </p:nvSpPr>
        <p:spPr>
          <a:xfrm>
            <a:off x="8705850" y="7886700"/>
            <a:ext cx="2781300" cy="1009650"/>
          </a:xfrm>
          <a:prstGeom prst="roundRect">
            <a:avLst>
              <a:gd name="adj" fmla="val 7547"/>
            </a:avLst>
          </a:prstGeom>
          <a:solidFill>
            <a:srgbClr val="FEFEFE"/>
          </a:solidFill>
          <a:ln w="8573">
            <a:solidFill>
              <a:srgbClr val="E64108"/>
            </a:solidFill>
            <a:prstDash val="solid"/>
          </a:ln>
        </p:spPr>
      </p:sp>
      <p:sp>
        <p:nvSpPr>
          <p:cNvPr id="348" name="validation-title-3">
            <a:extLst>
              <a:ext uri="{FF2B5EF4-FFF2-40B4-BE49-F238E27FC236}">
                <a16:creationId xmlns:a16="http://schemas.microsoft.com/office/drawing/2014/main" id="{EF83C6F7-E4B3-4847-8E08-C2109460AF94}"/>
              </a:ext>
            </a:extLst>
          </p:cNvPr>
          <p:cNvSpPr>
            <a:spLocks noGrp="1"/>
          </p:cNvSpPr>
          <p:nvPr/>
        </p:nvSpPr>
        <p:spPr>
          <a:xfrm>
            <a:off x="9334500" y="7905750"/>
            <a:ext cx="2057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0" b="1" i="0">
                <a:solidFill>
                  <a:srgbClr val="E641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0" b="1" i="0">
                <a:solidFill>
                  <a:srgbClr val="E64108"/>
                </a:solidFill>
                <a:cs typeface="Microsoft YaHei"/>
              </a:rPr>
              <a:t>保成本上界</a:t>
            </a:r>
          </a:p>
        </p:txBody>
      </p:sp>
      <p:sp>
        <p:nvSpPr>
          <p:cNvPr id="349" name="validation-card-4">
            <a:extLst>
              <a:ext uri="{FF2B5EF4-FFF2-40B4-BE49-F238E27FC236}">
                <a16:creationId xmlns:a16="http://schemas.microsoft.com/office/drawing/2014/main" id="{49A869D6-830B-4DD6-B8C0-A140C4796D8C}"/>
              </a:ext>
            </a:extLst>
          </p:cNvPr>
          <p:cNvSpPr>
            <a:spLocks noGrp="1"/>
          </p:cNvSpPr>
          <p:nvPr/>
        </p:nvSpPr>
        <p:spPr>
          <a:xfrm>
            <a:off x="11591925" y="7886700"/>
            <a:ext cx="2809875" cy="1009650"/>
          </a:xfrm>
          <a:prstGeom prst="roundRect">
            <a:avLst>
              <a:gd name="adj" fmla="val 7547"/>
            </a:avLst>
          </a:prstGeom>
          <a:solidFill>
            <a:srgbClr val="F6F4FC"/>
          </a:solidFill>
          <a:ln w="8573">
            <a:solidFill>
              <a:srgbClr val="5B28B3"/>
            </a:solidFill>
            <a:prstDash val="solid"/>
          </a:ln>
        </p:spPr>
      </p:sp>
      <p:sp>
        <p:nvSpPr>
          <p:cNvPr id="350" name="validation-title-4">
            <a:extLst>
              <a:ext uri="{FF2B5EF4-FFF2-40B4-BE49-F238E27FC236}">
                <a16:creationId xmlns:a16="http://schemas.microsoft.com/office/drawing/2014/main" id="{04E7D158-03E7-4B1D-AAA4-E5AEEBD7A708}"/>
              </a:ext>
            </a:extLst>
          </p:cNvPr>
          <p:cNvSpPr>
            <a:spLocks noGrp="1"/>
          </p:cNvSpPr>
          <p:nvPr/>
        </p:nvSpPr>
        <p:spPr>
          <a:xfrm>
            <a:off x="12573000" y="7905750"/>
            <a:ext cx="1733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0" b="1" i="0">
                <a:solidFill>
                  <a:srgbClr val="5B28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0" b="1" i="0">
                <a:solidFill>
                  <a:srgbClr val="5B28B3"/>
                </a:solidFill>
                <a:cs typeface="Microsoft YaHei"/>
              </a:rPr>
              <a:t>最优调度 OCS</a:t>
            </a:r>
          </a:p>
        </p:txBody>
      </p:sp>
      <p:sp>
        <p:nvSpPr>
          <p:cNvPr id="351" name="val1-axis-y-from-anchor-89">
            <a:extLst>
              <a:ext uri="{FF2B5EF4-FFF2-40B4-BE49-F238E27FC236}">
                <a16:creationId xmlns:a16="http://schemas.microsoft.com/office/drawing/2014/main" id="{608B8FBD-AAD3-47EA-B077-BA3443BED806}"/>
              </a:ext>
            </a:extLst>
          </p:cNvPr>
          <p:cNvSpPr>
            <a:spLocks noGrp="1"/>
          </p:cNvSpPr>
          <p:nvPr/>
        </p:nvSpPr>
        <p:spPr>
          <a:xfrm>
            <a:off x="3511868" y="87220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52" name="val1-axis-y-to-anchor-90">
            <a:extLst>
              <a:ext uri="{FF2B5EF4-FFF2-40B4-BE49-F238E27FC236}">
                <a16:creationId xmlns:a16="http://schemas.microsoft.com/office/drawing/2014/main" id="{AC73C558-9B2F-498C-8AC6-1A49474832F2}"/>
              </a:ext>
            </a:extLst>
          </p:cNvPr>
          <p:cNvSpPr>
            <a:spLocks noGrp="1"/>
          </p:cNvSpPr>
          <p:nvPr/>
        </p:nvSpPr>
        <p:spPr>
          <a:xfrm>
            <a:off x="3511868" y="81314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50" name="val1-axis-y"/>
          <p:cNvCxnSpPr>
            <a:stCxn id="351" idx="0"/>
            <a:endCxn id="352" idx="4"/>
          </p:cNvCxnSpPr>
          <p:nvPr/>
        </p:nvCxnSpPr>
        <p:spPr>
          <a:xfrm flipV="1">
            <a:off x="3514726" y="8137208"/>
            <a:ext cx="0" cy="584835"/>
          </a:xfrm>
          <a:prstGeom prst="straightConnector1">
            <a:avLst/>
          </a:prstGeom>
          <a:ln w="10001" cap="rnd">
            <a:solidFill>
              <a:srgbClr val="111111"/>
            </a:solidFill>
            <a:prstDash val="solid"/>
            <a:round/>
            <a:headEnd type="triangle" w="sm" len="sm"/>
          </a:ln>
        </p:spPr>
      </p:cxnSp>
      <p:sp>
        <p:nvSpPr>
          <p:cNvPr id="354" name="val1-axis-x-from-anchor-91">
            <a:extLst>
              <a:ext uri="{FF2B5EF4-FFF2-40B4-BE49-F238E27FC236}">
                <a16:creationId xmlns:a16="http://schemas.microsoft.com/office/drawing/2014/main" id="{0CC3FFCE-63B8-45AF-870A-17805CC1D90B}"/>
              </a:ext>
            </a:extLst>
          </p:cNvPr>
          <p:cNvSpPr>
            <a:spLocks noGrp="1"/>
          </p:cNvSpPr>
          <p:nvPr/>
        </p:nvSpPr>
        <p:spPr>
          <a:xfrm>
            <a:off x="3511868" y="87220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55" name="val1-axis-x-to-anchor-92">
            <a:extLst>
              <a:ext uri="{FF2B5EF4-FFF2-40B4-BE49-F238E27FC236}">
                <a16:creationId xmlns:a16="http://schemas.microsoft.com/office/drawing/2014/main" id="{77F2176A-9F1B-4890-9206-08C824D730AE}"/>
              </a:ext>
            </a:extLst>
          </p:cNvPr>
          <p:cNvSpPr>
            <a:spLocks noGrp="1"/>
          </p:cNvSpPr>
          <p:nvPr/>
        </p:nvSpPr>
        <p:spPr>
          <a:xfrm>
            <a:off x="4169093" y="87220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53" name="val1-axis-x"/>
          <p:cNvCxnSpPr>
            <a:stCxn id="354" idx="6"/>
            <a:endCxn id="355" idx="2"/>
          </p:cNvCxnSpPr>
          <p:nvPr/>
        </p:nvCxnSpPr>
        <p:spPr>
          <a:xfrm>
            <a:off x="3517583" y="8724901"/>
            <a:ext cx="651510" cy="0"/>
          </a:xfrm>
          <a:prstGeom prst="straightConnector1">
            <a:avLst/>
          </a:prstGeom>
          <a:ln w="10001" cap="rnd">
            <a:solidFill>
              <a:srgbClr val="111111"/>
            </a:solidFill>
            <a:prstDash val="solid"/>
            <a:round/>
            <a:tailEnd type="triangle" w="sm" len="sm"/>
          </a:ln>
        </p:spPr>
      </p:cxnSp>
      <p:sp>
        <p:nvSpPr>
          <p:cNvPr id="357" name="val1-wave-0-from-anchor-93">
            <a:extLst>
              <a:ext uri="{FF2B5EF4-FFF2-40B4-BE49-F238E27FC236}">
                <a16:creationId xmlns:a16="http://schemas.microsoft.com/office/drawing/2014/main" id="{7CD80F6E-4E32-4948-81CE-1579371C9222}"/>
              </a:ext>
            </a:extLst>
          </p:cNvPr>
          <p:cNvSpPr>
            <a:spLocks noGrp="1"/>
          </p:cNvSpPr>
          <p:nvPr/>
        </p:nvSpPr>
        <p:spPr>
          <a:xfrm>
            <a:off x="3511868" y="82648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58" name="val1-wave-0-to-anchor-94">
            <a:extLst>
              <a:ext uri="{FF2B5EF4-FFF2-40B4-BE49-F238E27FC236}">
                <a16:creationId xmlns:a16="http://schemas.microsoft.com/office/drawing/2014/main" id="{33F86128-5A55-45B8-AF92-FC822AFF6580}"/>
              </a:ext>
            </a:extLst>
          </p:cNvPr>
          <p:cNvSpPr>
            <a:spLocks noGrp="1"/>
          </p:cNvSpPr>
          <p:nvPr/>
        </p:nvSpPr>
        <p:spPr>
          <a:xfrm>
            <a:off x="3616643" y="82648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56" name="val1-wave-0"/>
          <p:cNvCxnSpPr>
            <a:stCxn id="357" idx="6"/>
            <a:endCxn id="358" idx="2"/>
          </p:cNvCxnSpPr>
          <p:nvPr/>
        </p:nvCxnSpPr>
        <p:spPr>
          <a:xfrm>
            <a:off x="3517583" y="8267700"/>
            <a:ext cx="99060" cy="0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360" name="val1-wave-1-from-anchor-95">
            <a:extLst>
              <a:ext uri="{FF2B5EF4-FFF2-40B4-BE49-F238E27FC236}">
                <a16:creationId xmlns:a16="http://schemas.microsoft.com/office/drawing/2014/main" id="{60C4F9CE-64AF-4219-B2C8-2D6F050E939B}"/>
              </a:ext>
            </a:extLst>
          </p:cNvPr>
          <p:cNvSpPr>
            <a:spLocks noGrp="1"/>
          </p:cNvSpPr>
          <p:nvPr/>
        </p:nvSpPr>
        <p:spPr>
          <a:xfrm>
            <a:off x="3616643" y="82648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61" name="val1-wave-1-to-anchor-96">
            <a:extLst>
              <a:ext uri="{FF2B5EF4-FFF2-40B4-BE49-F238E27FC236}">
                <a16:creationId xmlns:a16="http://schemas.microsoft.com/office/drawing/2014/main" id="{28266595-9B82-4127-88BB-6F1B5E2D0EBC}"/>
              </a:ext>
            </a:extLst>
          </p:cNvPr>
          <p:cNvSpPr>
            <a:spLocks noGrp="1"/>
          </p:cNvSpPr>
          <p:nvPr/>
        </p:nvSpPr>
        <p:spPr>
          <a:xfrm>
            <a:off x="3711893" y="85791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59" name="val1-wave-1"/>
          <p:cNvCxnSpPr>
            <a:stCxn id="360" idx="4"/>
            <a:endCxn id="361" idx="0"/>
          </p:cNvCxnSpPr>
          <p:nvPr/>
        </p:nvCxnSpPr>
        <p:spPr>
          <a:xfrm>
            <a:off x="3619501" y="8270558"/>
            <a:ext cx="95250" cy="308610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363" name="val1-wave-2-from-anchor-97">
            <a:extLst>
              <a:ext uri="{FF2B5EF4-FFF2-40B4-BE49-F238E27FC236}">
                <a16:creationId xmlns:a16="http://schemas.microsoft.com/office/drawing/2014/main" id="{26849DF4-50CF-4424-95D2-3E9E9E0102CA}"/>
              </a:ext>
            </a:extLst>
          </p:cNvPr>
          <p:cNvSpPr>
            <a:spLocks noGrp="1"/>
          </p:cNvSpPr>
          <p:nvPr/>
        </p:nvSpPr>
        <p:spPr>
          <a:xfrm>
            <a:off x="3711893" y="85791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64" name="val1-wave-2-to-anchor-98">
            <a:extLst>
              <a:ext uri="{FF2B5EF4-FFF2-40B4-BE49-F238E27FC236}">
                <a16:creationId xmlns:a16="http://schemas.microsoft.com/office/drawing/2014/main" id="{D3198984-6BB8-454D-A228-759476B81289}"/>
              </a:ext>
            </a:extLst>
          </p:cNvPr>
          <p:cNvSpPr>
            <a:spLocks noGrp="1"/>
          </p:cNvSpPr>
          <p:nvPr/>
        </p:nvSpPr>
        <p:spPr>
          <a:xfrm>
            <a:off x="3807143" y="84362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62" name="val1-wave-2"/>
          <p:cNvCxnSpPr>
            <a:stCxn id="363" idx="7"/>
            <a:endCxn id="364" idx="3"/>
          </p:cNvCxnSpPr>
          <p:nvPr/>
        </p:nvCxnSpPr>
        <p:spPr>
          <a:xfrm flipV="1">
            <a:off x="3716771" y="8441171"/>
            <a:ext cx="91209" cy="138834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366" name="val1-wave-3-from-anchor-99">
            <a:extLst>
              <a:ext uri="{FF2B5EF4-FFF2-40B4-BE49-F238E27FC236}">
                <a16:creationId xmlns:a16="http://schemas.microsoft.com/office/drawing/2014/main" id="{4E0F3BCE-7A35-44A0-91D3-4EFD89E4C556}"/>
              </a:ext>
            </a:extLst>
          </p:cNvPr>
          <p:cNvSpPr>
            <a:spLocks noGrp="1"/>
          </p:cNvSpPr>
          <p:nvPr/>
        </p:nvSpPr>
        <p:spPr>
          <a:xfrm>
            <a:off x="3807143" y="843629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67" name="val1-wave-3-to-anchor-100">
            <a:extLst>
              <a:ext uri="{FF2B5EF4-FFF2-40B4-BE49-F238E27FC236}">
                <a16:creationId xmlns:a16="http://schemas.microsoft.com/office/drawing/2014/main" id="{66A56586-6504-4F45-86F7-191CD0CCB1E9}"/>
              </a:ext>
            </a:extLst>
          </p:cNvPr>
          <p:cNvSpPr>
            <a:spLocks noGrp="1"/>
          </p:cNvSpPr>
          <p:nvPr/>
        </p:nvSpPr>
        <p:spPr>
          <a:xfrm>
            <a:off x="3921443" y="8274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65" name="val1-wave-3"/>
          <p:cNvCxnSpPr>
            <a:stCxn id="366" idx="7"/>
            <a:endCxn id="367" idx="3"/>
          </p:cNvCxnSpPr>
          <p:nvPr/>
        </p:nvCxnSpPr>
        <p:spPr>
          <a:xfrm flipV="1">
            <a:off x="3812021" y="8279246"/>
            <a:ext cx="110259" cy="157884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369" name="val1-wave-4-from-anchor-101">
            <a:extLst>
              <a:ext uri="{FF2B5EF4-FFF2-40B4-BE49-F238E27FC236}">
                <a16:creationId xmlns:a16="http://schemas.microsoft.com/office/drawing/2014/main" id="{75310A1B-49FC-47A2-BAC6-22F323239562}"/>
              </a:ext>
            </a:extLst>
          </p:cNvPr>
          <p:cNvSpPr>
            <a:spLocks noGrp="1"/>
          </p:cNvSpPr>
          <p:nvPr/>
        </p:nvSpPr>
        <p:spPr>
          <a:xfrm>
            <a:off x="3921443" y="8274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70" name="val1-wave-4-to-anchor-102">
            <a:extLst>
              <a:ext uri="{FF2B5EF4-FFF2-40B4-BE49-F238E27FC236}">
                <a16:creationId xmlns:a16="http://schemas.microsoft.com/office/drawing/2014/main" id="{079390CD-521B-4234-B471-F94F9F1F2817}"/>
              </a:ext>
            </a:extLst>
          </p:cNvPr>
          <p:cNvSpPr>
            <a:spLocks noGrp="1"/>
          </p:cNvSpPr>
          <p:nvPr/>
        </p:nvSpPr>
        <p:spPr>
          <a:xfrm>
            <a:off x="4064318" y="827436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68" name="val1-wave-4"/>
          <p:cNvCxnSpPr>
            <a:stCxn id="369" idx="6"/>
            <a:endCxn id="370" idx="2"/>
          </p:cNvCxnSpPr>
          <p:nvPr/>
        </p:nvCxnSpPr>
        <p:spPr>
          <a:xfrm>
            <a:off x="3927158" y="8277225"/>
            <a:ext cx="137160" cy="0"/>
          </a:xfrm>
          <a:prstGeom prst="straightConnector1">
            <a:avLst/>
          </a:prstGeom>
          <a:ln w="17145" cap="rnd">
            <a:solidFill>
              <a:srgbClr val="D51019"/>
            </a:solidFill>
            <a:prstDash val="solid"/>
            <a:round/>
          </a:ln>
        </p:spPr>
      </p:cxnSp>
      <p:sp>
        <p:nvSpPr>
          <p:cNvPr id="372" name="val1-line1">
            <a:extLst>
              <a:ext uri="{FF2B5EF4-FFF2-40B4-BE49-F238E27FC236}">
                <a16:creationId xmlns:a16="http://schemas.microsoft.com/office/drawing/2014/main" id="{916A3866-9962-43DE-81C2-A0F70D820A54}"/>
              </a:ext>
            </a:extLst>
          </p:cNvPr>
          <p:cNvSpPr>
            <a:spLocks noGrp="1"/>
          </p:cNvSpPr>
          <p:nvPr/>
        </p:nvSpPr>
        <p:spPr>
          <a:xfrm>
            <a:off x="4181475" y="81724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5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 i="0">
                <a:solidFill>
                  <a:srgbClr val="111111"/>
                </a:solidFill>
                <a:cs typeface="Microsoft YaHei"/>
              </a:rPr>
              <a:t>Gen2：20→180→140 ms</a:t>
            </a:r>
          </a:p>
        </p:txBody>
      </p:sp>
      <p:sp>
        <p:nvSpPr>
          <p:cNvPr id="373" name="val1-line2">
            <a:extLst>
              <a:ext uri="{FF2B5EF4-FFF2-40B4-BE49-F238E27FC236}">
                <a16:creationId xmlns:a16="http://schemas.microsoft.com/office/drawing/2014/main" id="{6E0590C7-A921-4267-AECC-A39DEF2A14A3}"/>
              </a:ext>
            </a:extLst>
          </p:cNvPr>
          <p:cNvSpPr>
            <a:spLocks noGrp="1"/>
          </p:cNvSpPr>
          <p:nvPr/>
        </p:nvSpPr>
        <p:spPr>
          <a:xfrm>
            <a:off x="4324350" y="8448675"/>
            <a:ext cx="1381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9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0" b="1" i="0">
                <a:solidFill>
                  <a:srgbClr val="111111"/>
                </a:solidFill>
                <a:cs typeface="Microsoft YaHei"/>
              </a:rPr>
              <a:t>1 s内完成重调度</a:t>
            </a:r>
          </a:p>
        </p:txBody>
      </p:sp>
      <p:pic>
        <p:nvPicPr>
          <p:cNvPr id="771" name="图片 770"/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6067425" y="8028572"/>
            <a:ext cx="762000" cy="802105"/>
          </a:xfrm>
          <a:prstGeom prst="rect">
            <a:avLst/>
          </a:prstGeom>
        </p:spPr>
      </p:pic>
      <p:sp>
        <p:nvSpPr>
          <p:cNvPr id="375" name="val2-line1">
            <a:extLst>
              <a:ext uri="{FF2B5EF4-FFF2-40B4-BE49-F238E27FC236}">
                <a16:creationId xmlns:a16="http://schemas.microsoft.com/office/drawing/2014/main" id="{8CDA73D8-1521-4467-80D9-6690E41DB681}"/>
              </a:ext>
            </a:extLst>
          </p:cNvPr>
          <p:cNvSpPr>
            <a:spLocks noGrp="1"/>
          </p:cNvSpPr>
          <p:nvPr/>
        </p:nvSpPr>
        <p:spPr>
          <a:xfrm>
            <a:off x="6962775" y="81819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6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0" b="0" i="0">
                <a:solidFill>
                  <a:srgbClr val="111111"/>
                </a:solidFill>
                <a:cs typeface="Microsoft YaHei"/>
              </a:rPr>
              <a:t>Bus36三相短路</a:t>
            </a:r>
          </a:p>
        </p:txBody>
      </p:sp>
      <p:sp>
        <p:nvSpPr>
          <p:cNvPr id="376" name="val2-line2">
            <a:extLst>
              <a:ext uri="{FF2B5EF4-FFF2-40B4-BE49-F238E27FC236}">
                <a16:creationId xmlns:a16="http://schemas.microsoft.com/office/drawing/2014/main" id="{9EA4BD32-77D3-49F6-8E7C-170D822BB5E0}"/>
              </a:ext>
            </a:extLst>
          </p:cNvPr>
          <p:cNvSpPr>
            <a:spLocks noGrp="1"/>
          </p:cNvSpPr>
          <p:nvPr/>
        </p:nvSpPr>
        <p:spPr>
          <a:xfrm>
            <a:off x="6962775" y="8448675"/>
            <a:ext cx="1581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4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40" b="1" i="0">
                <a:solidFill>
                  <a:srgbClr val="111111"/>
                </a:solidFill>
                <a:cs typeface="Microsoft YaHei"/>
              </a:rPr>
              <a:t>恢复Gen3通信与电压</a:t>
            </a:r>
          </a:p>
        </p:txBody>
      </p:sp>
      <p:sp>
        <p:nvSpPr>
          <p:cNvPr id="377" name="val3-bar-0">
            <a:extLst>
              <a:ext uri="{FF2B5EF4-FFF2-40B4-BE49-F238E27FC236}">
                <a16:creationId xmlns:a16="http://schemas.microsoft.com/office/drawing/2014/main" id="{A9603263-9E55-4917-8F1B-655CEA54329D}"/>
              </a:ext>
            </a:extLst>
          </p:cNvPr>
          <p:cNvSpPr>
            <a:spLocks noGrp="1"/>
          </p:cNvSpPr>
          <p:nvPr/>
        </p:nvSpPr>
        <p:spPr>
          <a:xfrm>
            <a:off x="8877300" y="8277225"/>
            <a:ext cx="114300" cy="400050"/>
          </a:xfrm>
          <a:prstGeom prst="rect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378" name="val3-bar-1">
            <a:extLst>
              <a:ext uri="{FF2B5EF4-FFF2-40B4-BE49-F238E27FC236}">
                <a16:creationId xmlns:a16="http://schemas.microsoft.com/office/drawing/2014/main" id="{829E92E5-F693-475E-B59A-AA47D07D8417}"/>
              </a:ext>
            </a:extLst>
          </p:cNvPr>
          <p:cNvSpPr>
            <a:spLocks noGrp="1"/>
          </p:cNvSpPr>
          <p:nvPr/>
        </p:nvSpPr>
        <p:spPr>
          <a:xfrm>
            <a:off x="9067800" y="8096250"/>
            <a:ext cx="114300" cy="581025"/>
          </a:xfrm>
          <a:prstGeom prst="rect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379" name="val3-bar-2">
            <a:extLst>
              <a:ext uri="{FF2B5EF4-FFF2-40B4-BE49-F238E27FC236}">
                <a16:creationId xmlns:a16="http://schemas.microsoft.com/office/drawing/2014/main" id="{CEA86FCA-EFFE-4ECB-9A76-E1D2C8C54B8B}"/>
              </a:ext>
            </a:extLst>
          </p:cNvPr>
          <p:cNvSpPr>
            <a:spLocks noGrp="1"/>
          </p:cNvSpPr>
          <p:nvPr/>
        </p:nvSpPr>
        <p:spPr>
          <a:xfrm>
            <a:off x="9258300" y="8353425"/>
            <a:ext cx="114300" cy="323850"/>
          </a:xfrm>
          <a:prstGeom prst="rect">
            <a:avLst/>
          </a:prstGeom>
          <a:solidFill>
            <a:srgbClr val="0964BE"/>
          </a:solidFill>
          <a:ln w="0">
            <a:noFill/>
            <a:prstDash val="solid"/>
          </a:ln>
        </p:spPr>
      </p:sp>
      <p:sp>
        <p:nvSpPr>
          <p:cNvPr id="380" name="val3-bar-3">
            <a:extLst>
              <a:ext uri="{FF2B5EF4-FFF2-40B4-BE49-F238E27FC236}">
                <a16:creationId xmlns:a16="http://schemas.microsoft.com/office/drawing/2014/main" id="{69BAB462-50B7-4E71-A068-3C2B4DDF2FC1}"/>
              </a:ext>
            </a:extLst>
          </p:cNvPr>
          <p:cNvSpPr>
            <a:spLocks noGrp="1"/>
          </p:cNvSpPr>
          <p:nvPr/>
        </p:nvSpPr>
        <p:spPr>
          <a:xfrm>
            <a:off x="9448800" y="8467725"/>
            <a:ext cx="114300" cy="209550"/>
          </a:xfrm>
          <a:prstGeom prst="rect">
            <a:avLst/>
          </a:prstGeom>
          <a:solidFill>
            <a:srgbClr val="52A76D"/>
          </a:solidFill>
          <a:ln w="0">
            <a:noFill/>
            <a:prstDash val="solid"/>
          </a:ln>
        </p:spPr>
      </p:sp>
      <p:sp>
        <p:nvSpPr>
          <p:cNvPr id="381" name="val3-axis-from-anchor-103">
            <a:extLst>
              <a:ext uri="{FF2B5EF4-FFF2-40B4-BE49-F238E27FC236}">
                <a16:creationId xmlns:a16="http://schemas.microsoft.com/office/drawing/2014/main" id="{423683C5-C96C-4389-87B6-4CB6B301BDA8}"/>
              </a:ext>
            </a:extLst>
          </p:cNvPr>
          <p:cNvSpPr>
            <a:spLocks noGrp="1"/>
          </p:cNvSpPr>
          <p:nvPr/>
        </p:nvSpPr>
        <p:spPr>
          <a:xfrm>
            <a:off x="8817293" y="86839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82" name="val3-axis-to-anchor-104">
            <a:extLst>
              <a:ext uri="{FF2B5EF4-FFF2-40B4-BE49-F238E27FC236}">
                <a16:creationId xmlns:a16="http://schemas.microsoft.com/office/drawing/2014/main" id="{1DD9289E-0E27-4B3B-BC40-D1ECDA381518}"/>
              </a:ext>
            </a:extLst>
          </p:cNvPr>
          <p:cNvSpPr>
            <a:spLocks noGrp="1"/>
          </p:cNvSpPr>
          <p:nvPr/>
        </p:nvSpPr>
        <p:spPr>
          <a:xfrm>
            <a:off x="9626918" y="86839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80" name="val3-axis"/>
          <p:cNvCxnSpPr>
            <a:stCxn id="381" idx="6"/>
            <a:endCxn id="382" idx="2"/>
          </p:cNvCxnSpPr>
          <p:nvPr/>
        </p:nvCxnSpPr>
        <p:spPr>
          <a:xfrm>
            <a:off x="8823008" y="8686801"/>
            <a:ext cx="803910" cy="0"/>
          </a:xfrm>
          <a:prstGeom prst="straightConnector1">
            <a:avLst/>
          </a:prstGeom>
          <a:ln w="9525" cap="rnd">
            <a:solidFill>
              <a:srgbClr val="111111"/>
            </a:solidFill>
            <a:prstDash val="solid"/>
            <a:round/>
          </a:ln>
        </p:spPr>
      </p:cxnSp>
      <p:sp>
        <p:nvSpPr>
          <p:cNvPr id="384" name="val3-green-arrow-a-from-anchor-105">
            <a:extLst>
              <a:ext uri="{FF2B5EF4-FFF2-40B4-BE49-F238E27FC236}">
                <a16:creationId xmlns:a16="http://schemas.microsoft.com/office/drawing/2014/main" id="{96A4580F-E9EC-4E3E-9756-BE65464FA965}"/>
              </a:ext>
            </a:extLst>
          </p:cNvPr>
          <p:cNvSpPr>
            <a:spLocks noGrp="1"/>
          </p:cNvSpPr>
          <p:nvPr/>
        </p:nvSpPr>
        <p:spPr>
          <a:xfrm>
            <a:off x="9169718" y="80267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85" name="val3-green-arrow-a-to-anchor-106">
            <a:extLst>
              <a:ext uri="{FF2B5EF4-FFF2-40B4-BE49-F238E27FC236}">
                <a16:creationId xmlns:a16="http://schemas.microsoft.com/office/drawing/2014/main" id="{F81EA25C-AD42-45E8-BE84-F10FAC37AACE}"/>
              </a:ext>
            </a:extLst>
          </p:cNvPr>
          <p:cNvSpPr>
            <a:spLocks noGrp="1"/>
          </p:cNvSpPr>
          <p:nvPr/>
        </p:nvSpPr>
        <p:spPr>
          <a:xfrm>
            <a:off x="9417368" y="82934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83" name="val3-green-arrow-a"/>
          <p:cNvCxnSpPr>
            <a:stCxn id="384" idx="5"/>
            <a:endCxn id="385" idx="1"/>
          </p:cNvCxnSpPr>
          <p:nvPr/>
        </p:nvCxnSpPr>
        <p:spPr>
          <a:xfrm>
            <a:off x="9174596" y="8031596"/>
            <a:ext cx="243609" cy="262659"/>
          </a:xfrm>
          <a:prstGeom prst="straightConnector1">
            <a:avLst/>
          </a:prstGeom>
          <a:ln w="19050" cap="rnd">
            <a:solidFill>
              <a:srgbClr val="07672D"/>
            </a:solidFill>
            <a:prstDash val="solid"/>
            <a:round/>
          </a:ln>
        </p:spPr>
      </p:cxnSp>
      <p:sp>
        <p:nvSpPr>
          <p:cNvPr id="387" name="val3-green-arrow-b-from-anchor-107">
            <a:extLst>
              <a:ext uri="{FF2B5EF4-FFF2-40B4-BE49-F238E27FC236}">
                <a16:creationId xmlns:a16="http://schemas.microsoft.com/office/drawing/2014/main" id="{27F1BAF1-0A34-4EA3-B530-7CDD2373F03B}"/>
              </a:ext>
            </a:extLst>
          </p:cNvPr>
          <p:cNvSpPr>
            <a:spLocks noGrp="1"/>
          </p:cNvSpPr>
          <p:nvPr/>
        </p:nvSpPr>
        <p:spPr>
          <a:xfrm>
            <a:off x="9417368" y="8293418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88" name="val3-green-arrow-b-to-anchor-108">
            <a:extLst>
              <a:ext uri="{FF2B5EF4-FFF2-40B4-BE49-F238E27FC236}">
                <a16:creationId xmlns:a16="http://schemas.microsoft.com/office/drawing/2014/main" id="{431E8266-2E93-4C7C-AA69-F2032DD78D0F}"/>
              </a:ext>
            </a:extLst>
          </p:cNvPr>
          <p:cNvSpPr>
            <a:spLocks noGrp="1"/>
          </p:cNvSpPr>
          <p:nvPr/>
        </p:nvSpPr>
        <p:spPr>
          <a:xfrm>
            <a:off x="9569768" y="8226743"/>
            <a:ext cx="5715" cy="571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786" name="val3-green-arrow-b"/>
          <p:cNvCxnSpPr>
            <a:stCxn id="387" idx="7"/>
            <a:endCxn id="388" idx="3"/>
          </p:cNvCxnSpPr>
          <p:nvPr/>
        </p:nvCxnSpPr>
        <p:spPr>
          <a:xfrm flipV="1">
            <a:off x="9422246" y="8231621"/>
            <a:ext cx="148359" cy="62634"/>
          </a:xfrm>
          <a:prstGeom prst="straightConnector1">
            <a:avLst/>
          </a:prstGeom>
          <a:ln w="19050" cap="rnd">
            <a:solidFill>
              <a:srgbClr val="07672D"/>
            </a:solidFill>
            <a:prstDash val="solid"/>
            <a:round/>
            <a:tailEnd type="triangle" w="sm" len="sm"/>
          </a:ln>
        </p:spPr>
      </p:cxnSp>
      <p:sp>
        <p:nvSpPr>
          <p:cNvPr id="390" name="val3-line1">
            <a:extLst>
              <a:ext uri="{FF2B5EF4-FFF2-40B4-BE49-F238E27FC236}">
                <a16:creationId xmlns:a16="http://schemas.microsoft.com/office/drawing/2014/main" id="{6E5CEC27-E95D-4BA1-9EB8-1D3CCD842828}"/>
              </a:ext>
            </a:extLst>
          </p:cNvPr>
          <p:cNvSpPr>
            <a:spLocks noGrp="1"/>
          </p:cNvSpPr>
          <p:nvPr/>
        </p:nvSpPr>
        <p:spPr>
          <a:xfrm>
            <a:off x="9753600" y="817245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20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0" b="0" i="0">
                <a:solidFill>
                  <a:srgbClr val="111111"/>
                </a:solidFill>
                <a:cs typeface="Microsoft YaHei"/>
              </a:rPr>
              <a:t>0.9359 → 0.6035</a:t>
            </a:r>
          </a:p>
        </p:txBody>
      </p:sp>
      <p:sp>
        <p:nvSpPr>
          <p:cNvPr id="391" name="val3-line2">
            <a:extLst>
              <a:ext uri="{FF2B5EF4-FFF2-40B4-BE49-F238E27FC236}">
                <a16:creationId xmlns:a16="http://schemas.microsoft.com/office/drawing/2014/main" id="{98BE5C42-4612-4C9B-BEB9-21B6B3D49369}"/>
              </a:ext>
            </a:extLst>
          </p:cNvPr>
          <p:cNvSpPr>
            <a:spLocks noGrp="1"/>
          </p:cNvSpPr>
          <p:nvPr/>
        </p:nvSpPr>
        <p:spPr>
          <a:xfrm>
            <a:off x="9915525" y="8448675"/>
            <a:ext cx="12192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1" i="0">
                <a:solidFill>
                  <a:srgbClr val="111111"/>
                </a:solidFill>
                <a:cs typeface="Microsoft YaHei"/>
              </a:rPr>
              <a:t>降低35.5%</a:t>
            </a:r>
          </a:p>
        </p:txBody>
      </p:sp>
      <p:pic>
        <p:nvPicPr>
          <p:cNvPr id="789" name="图片 788"/>
          <p:cNvPicPr>
            <a:picLocks noChangeAspect="1"/>
          </p:cNvPicPr>
          <p:nvPr/>
        </p:nvPicPr>
        <p:blipFill>
          <a:blip r:embed="rId32"/>
          <a:stretch/>
        </p:blipFill>
        <p:spPr>
          <a:xfrm>
            <a:off x="11671874" y="7981950"/>
            <a:ext cx="811652" cy="847725"/>
          </a:xfrm>
          <a:prstGeom prst="rect">
            <a:avLst/>
          </a:prstGeom>
        </p:spPr>
      </p:pic>
      <p:sp>
        <p:nvSpPr>
          <p:cNvPr id="393" name="val4-details">
            <a:extLst>
              <a:ext uri="{FF2B5EF4-FFF2-40B4-BE49-F238E27FC236}">
                <a16:creationId xmlns:a16="http://schemas.microsoft.com/office/drawing/2014/main" id="{BE72C18D-6391-4D90-8F1B-6626C734099A}"/>
              </a:ext>
            </a:extLst>
          </p:cNvPr>
          <p:cNvSpPr>
            <a:spLocks noGrp="1"/>
          </p:cNvSpPr>
          <p:nvPr/>
        </p:nvSpPr>
        <p:spPr>
          <a:xfrm>
            <a:off x="12592050" y="8124825"/>
            <a:ext cx="16859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08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 i="1">
                <a:solidFill>
                  <a:srgbClr val="111111"/>
                </a:solidFill>
                <a:cs typeface="Microsoft YaHei"/>
              </a:rPr>
              <a:t>J</a:t>
            </a:r>
            <a:r>
              <a:rPr lang="en-US" altLang="zh-CN" sz="1080" b="0" i="1" baseline="-25000">
                <a:solidFill>
                  <a:srgbClr val="111111"/>
                </a:solidFill>
                <a:cs typeface="Microsoft YaHei"/>
              </a:rPr>
              <a:t>1</a:t>
            </a:r>
            <a:r>
              <a:rPr sz="1080" b="0" i="1">
                <a:solidFill>
                  <a:srgbClr val="111111"/>
                </a:solidFill>
                <a:cs typeface="Microsoft YaHei"/>
              </a:rPr>
              <a:t> = 0.210</a:t>
            </a:r>
          </a:p>
          <a:p>
            <a:pPr algn="l">
              <a:lnSpc>
                <a:spcPct val="112000"/>
              </a:lnSpc>
              <a:buNone/>
              <a:defRPr sz="108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 i="1">
                <a:solidFill>
                  <a:srgbClr val="111111"/>
                </a:solidFill>
                <a:cs typeface="Microsoft YaHei"/>
              </a:rPr>
              <a:t>J</a:t>
            </a:r>
            <a:r>
              <a:rPr lang="en-US" altLang="zh-CN" sz="1080" b="0" i="1" baseline="-25000">
                <a:solidFill>
                  <a:srgbClr val="111111"/>
                </a:solidFill>
                <a:cs typeface="Microsoft YaHei"/>
              </a:rPr>
              <a:t>2</a:t>
            </a:r>
            <a:r>
              <a:rPr sz="1080" b="0" i="1">
                <a:solidFill>
                  <a:srgbClr val="111111"/>
                </a:solidFill>
                <a:cs typeface="Microsoft YaHei"/>
              </a:rPr>
              <a:t> = 0.164</a:t>
            </a:r>
          </a:p>
          <a:p>
            <a:pPr algn="l">
              <a:lnSpc>
                <a:spcPct val="112000"/>
              </a:lnSpc>
              <a:buNone/>
              <a:defRPr sz="108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 i="0">
                <a:solidFill>
                  <a:srgbClr val="111111"/>
                </a:solidFill>
                <a:cs typeface="Microsoft YaHei"/>
              </a:rPr>
              <a:t>两场景均为最低</a:t>
            </a:r>
          </a:p>
        </p:txBody>
      </p:sp>
      <p:sp>
        <p:nvSpPr>
          <p:cNvPr id="394" name="footer-bar">
            <a:extLst>
              <a:ext uri="{FF2B5EF4-FFF2-40B4-BE49-F238E27FC236}">
                <a16:creationId xmlns:a16="http://schemas.microsoft.com/office/drawing/2014/main" id="{3315578E-063F-4FC3-946E-6497DC228F02}"/>
              </a:ext>
            </a:extLst>
          </p:cNvPr>
          <p:cNvSpPr>
            <a:spLocks noGrp="1"/>
          </p:cNvSpPr>
          <p:nvPr/>
        </p:nvSpPr>
        <p:spPr>
          <a:xfrm>
            <a:off x="114300" y="9067800"/>
            <a:ext cx="14401800" cy="609600"/>
          </a:xfrm>
          <a:prstGeom prst="roundRect">
            <a:avLst>
              <a:gd name="adj" fmla="val 12500"/>
            </a:avLst>
          </a:prstGeom>
          <a:solidFill>
            <a:srgbClr val="003B86"/>
          </a:solidFill>
          <a:ln w="9525">
            <a:solidFill>
              <a:srgbClr val="003B86"/>
            </a:solidFill>
            <a:prstDash val="solid"/>
          </a:ln>
        </p:spPr>
      </p:sp>
      <p:pic>
        <p:nvPicPr>
          <p:cNvPr id="792" name="图片 791"/>
          <p:cNvPicPr>
            <a:picLocks noChangeAspect="1"/>
          </p:cNvPicPr>
          <p:nvPr/>
        </p:nvPicPr>
        <p:blipFill>
          <a:blip r:embed="rId33"/>
          <a:stretch/>
        </p:blipFill>
        <p:spPr>
          <a:xfrm>
            <a:off x="248987" y="9086850"/>
            <a:ext cx="2607176" cy="552450"/>
          </a:xfrm>
          <a:prstGeom prst="rect">
            <a:avLst/>
          </a:prstGeom>
        </p:spPr>
      </p:pic>
      <p:pic>
        <p:nvPicPr>
          <p:cNvPr id="793" name="图片 792"/>
          <p:cNvPicPr>
            <a:picLocks noChangeAspect="1"/>
          </p:cNvPicPr>
          <p:nvPr/>
        </p:nvPicPr>
        <p:blipFill>
          <a:blip r:embed="rId34"/>
          <a:stretch/>
        </p:blipFill>
        <p:spPr>
          <a:xfrm>
            <a:off x="11839575" y="9090600"/>
            <a:ext cx="2562225" cy="544951"/>
          </a:xfrm>
          <a:prstGeom prst="rect">
            <a:avLst/>
          </a:prstGeom>
        </p:spPr>
      </p:pic>
      <p:sp>
        <p:nvSpPr>
          <p:cNvPr id="397" name="footer-slogan">
            <a:extLst>
              <a:ext uri="{FF2B5EF4-FFF2-40B4-BE49-F238E27FC236}">
                <a16:creationId xmlns:a16="http://schemas.microsoft.com/office/drawing/2014/main" id="{E6D22F67-EB13-41BB-9DA8-92DDD11A1032}"/>
              </a:ext>
            </a:extLst>
          </p:cNvPr>
          <p:cNvSpPr>
            <a:spLocks noGrp="1"/>
          </p:cNvSpPr>
          <p:nvPr/>
        </p:nvSpPr>
        <p:spPr>
          <a:xfrm>
            <a:off x="3257550" y="9124950"/>
            <a:ext cx="81724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 i="0">
                <a:solidFill>
                  <a:srgbClr val="FFFFFF"/>
                </a:solidFill>
                <a:cs typeface="Microsoft YaHei"/>
              </a:rPr>
              <a:t>同步量测 — 鲁棒控制 — 动态调度 — 快速电压恢复</a:t>
            </a:r>
          </a:p>
        </p:txBody>
      </p:sp>
    </p:spTree>
    <p:extLst>
      <p:ext uri="{BB962C8B-B14F-4D97-AF65-F5344CB8AC3E}">
        <p14:creationId xmlns:p14="http://schemas.microsoft.com/office/powerpoint/2010/main" val="14379112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DocSecurity>0</DocSecurity>
  <PresentationFormat>自定义</PresentationFormat>
  <Paragraphs>120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Cambria Math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PPT-editable — native Office Math example</dc:title>
  <dc:creator>PPT-editable contributors</dc:creator>
  <cp:revision>3</cp:revision>
  <dcterms:created xsi:type="dcterms:W3CDTF">2026-09-03T10:02:12Z</dcterms:created>
  <dcterms:modified xsi:type="dcterms:W3CDTF">2026-09-03T13:38:14Z</dcterms:modified>
</cp:coreProperties>
</file>